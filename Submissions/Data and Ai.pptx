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86" r:id="rId4"/>
    <p:sldId id="287" r:id="rId5"/>
    <p:sldId id="288" r:id="rId6"/>
    <p:sldId id="289" r:id="rId7"/>
    <p:sldId id="260" r:id="rId8"/>
    <p:sldId id="265" r:id="rId9"/>
    <p:sldId id="281" r:id="rId10"/>
    <p:sldId id="271" r:id="rId11"/>
    <p:sldId id="272" r:id="rId12"/>
    <p:sldId id="273" r:id="rId13"/>
    <p:sldId id="274" r:id="rId14"/>
    <p:sldId id="275" r:id="rId15"/>
    <p:sldId id="276" r:id="rId16"/>
    <p:sldId id="267" r:id="rId17"/>
    <p:sldId id="277" r:id="rId18"/>
    <p:sldId id="278" r:id="rId19"/>
    <p:sldId id="279" r:id="rId20"/>
    <p:sldId id="280" r:id="rId21"/>
    <p:sldId id="282" r:id="rId22"/>
    <p:sldId id="283" r:id="rId23"/>
    <p:sldId id="269" r:id="rId24"/>
    <p:sldId id="284" r:id="rId25"/>
    <p:sldId id="268"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EDD3CA-B1CF-4E06-9A2C-F59D9F666C43}" type="datetimeFigureOut">
              <a:rPr lang="de-DE" smtClean="0"/>
              <a:t>23.09.2024</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6C227B-FE89-47A1-8792-D4E62F7A785C}" type="slidenum">
              <a:rPr lang="de-DE" smtClean="0"/>
              <a:t>‹#›</a:t>
            </a:fld>
            <a:endParaRPr lang="de-DE"/>
          </a:p>
        </p:txBody>
      </p:sp>
    </p:spTree>
    <p:extLst>
      <p:ext uri="{BB962C8B-B14F-4D97-AF65-F5344CB8AC3E}">
        <p14:creationId xmlns:p14="http://schemas.microsoft.com/office/powerpoint/2010/main" val="365302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2: New Registrations vs. Percentage of Alternative Drive Vehicles by Brand</a:t>
            </a:r>
          </a:p>
          <a:p>
            <a:r>
              <a:rPr lang="en-US" dirty="0"/>
              <a:t>•	Explanation: This scatter plot compares total new registrations with the percentage of alternative drive vehicles for various brands. Each brand is represented by a distinct color, allowing us to see how brands with fewer registrations often have a higher percentage of alternative drives.	•	Takeaway: Smaller brands like Polestar, MG </a:t>
            </a:r>
            <a:r>
              <a:rPr lang="en-US" dirty="0" err="1"/>
              <a:t>Roewe</a:t>
            </a:r>
            <a:r>
              <a:rPr lang="en-US" dirty="0"/>
              <a:t>, and Tesla show high percentages of alternative drives, while larger brands like Volkswagen have a lower percentage. This supports the hypothesis that smaller brands focus more on alternative drives.</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10</a:t>
            </a:fld>
            <a:endParaRPr lang="de-DE"/>
          </a:p>
        </p:txBody>
      </p:sp>
    </p:spTree>
    <p:extLst>
      <p:ext uri="{BB962C8B-B14F-4D97-AF65-F5344CB8AC3E}">
        <p14:creationId xmlns:p14="http://schemas.microsoft.com/office/powerpoint/2010/main" val="3114076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3: EV Adoption – Urban vs. Rural Regions (Hypothetical)	</a:t>
            </a:r>
          </a:p>
          <a:p>
            <a:r>
              <a:rPr lang="en-US" dirty="0"/>
              <a:t>•	Explanation: This bar plot shows a comparison between urban and rural regions regarding EV adoption (measured as the percentage of vehicles with alternative drives). In this hypothetical example, urban regions have significantly higher EV adoption rates compared to rural areas.	•	Takeaway: Urban areas, with better charging infrastructure and environmental incentives, likely have higher adoption rates, supporting the hypothesis that urban regions adopt EVs more readily than rural areas.</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12</a:t>
            </a:fld>
            <a:endParaRPr lang="de-DE"/>
          </a:p>
        </p:txBody>
      </p:sp>
    </p:spTree>
    <p:extLst>
      <p:ext uri="{BB962C8B-B14F-4D97-AF65-F5344CB8AC3E}">
        <p14:creationId xmlns:p14="http://schemas.microsoft.com/office/powerpoint/2010/main" val="1319071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4: Incentives vs. EV Adoption by Brand (Hypothetical)	</a:t>
            </a:r>
          </a:p>
          <a:p>
            <a:r>
              <a:rPr lang="en-US" dirty="0"/>
              <a:t>•	Explanation: This scatter plot visualizes the relationship between incentives (e.g., government subsidies) and the percentage of alternative drive vehicles across brands. Brands with higher incentives, such as Audi and BMW, tend to have a higher proportion of alternative drive vehicles.	•	Takeaway: This supports the hypothesis that government incentives like the </a:t>
            </a:r>
            <a:r>
              <a:rPr lang="en-US" dirty="0" err="1"/>
              <a:t>Umweltbonus</a:t>
            </a:r>
            <a:r>
              <a:rPr lang="en-US" dirty="0"/>
              <a:t> have positively influenced EV adoption in certain </a:t>
            </a:r>
            <a:r>
              <a:rPr lang="en-US" dirty="0" err="1"/>
              <a:t>brands.These</a:t>
            </a:r>
            <a:r>
              <a:rPr lang="en-US" dirty="0"/>
              <a:t> plots visually support the hypotheses and provide clear insights for your presentation. Let me know if you’d like to adjust any of the visualizations or explore further analyses!</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14</a:t>
            </a:fld>
            <a:endParaRPr lang="de-DE"/>
          </a:p>
        </p:txBody>
      </p:sp>
    </p:spTree>
    <p:extLst>
      <p:ext uri="{BB962C8B-B14F-4D97-AF65-F5344CB8AC3E}">
        <p14:creationId xmlns:p14="http://schemas.microsoft.com/office/powerpoint/2010/main" val="133807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1.Top 10 Brands by New Registrations: This bar plot shows the top 10 brands by the number of new vehicle registrations in Q1 2022.</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17</a:t>
            </a:fld>
            <a:endParaRPr lang="de-DE"/>
          </a:p>
        </p:txBody>
      </p:sp>
    </p:spTree>
    <p:extLst>
      <p:ext uri="{BB962C8B-B14F-4D97-AF65-F5344CB8AC3E}">
        <p14:creationId xmlns:p14="http://schemas.microsoft.com/office/powerpoint/2010/main" val="1118445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2.Distribution of Alternative Drive Percentages: This histogram displays the distribution of alternative drive vehicle percentages across all brands, providing insight into the spread of alternative vehicle adoption.</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19</a:t>
            </a:fld>
            <a:endParaRPr lang="de-DE"/>
          </a:p>
        </p:txBody>
      </p:sp>
    </p:spTree>
    <p:extLst>
      <p:ext uri="{BB962C8B-B14F-4D97-AF65-F5344CB8AC3E}">
        <p14:creationId xmlns:p14="http://schemas.microsoft.com/office/powerpoint/2010/main" val="167111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3.Correlation Heatmap: This heatmap shows the correlations between the number of new registrations, alternative drive registrations, and the percentage of alternative drive vehicles. Strong correlations are highlighted.</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21</a:t>
            </a:fld>
            <a:endParaRPr lang="de-DE"/>
          </a:p>
        </p:txBody>
      </p:sp>
    </p:spTree>
    <p:extLst>
      <p:ext uri="{BB962C8B-B14F-4D97-AF65-F5344CB8AC3E}">
        <p14:creationId xmlns:p14="http://schemas.microsoft.com/office/powerpoint/2010/main" val="801498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4.EV Adoption Trends Over Time (Hypothetical): This line plot tracks the EV adoption trends for Audi, BMW, and Mercedes over a year, illustrating the progression of EV registrations.</a:t>
            </a:r>
            <a:endParaRPr lang="de-DE" dirty="0"/>
          </a:p>
        </p:txBody>
      </p:sp>
      <p:sp>
        <p:nvSpPr>
          <p:cNvPr id="4" name="Slide Number Placeholder 3"/>
          <p:cNvSpPr>
            <a:spLocks noGrp="1"/>
          </p:cNvSpPr>
          <p:nvPr>
            <p:ph type="sldNum" sz="quarter" idx="5"/>
          </p:nvPr>
        </p:nvSpPr>
        <p:spPr/>
        <p:txBody>
          <a:bodyPr/>
          <a:lstStyle/>
          <a:p>
            <a:fld id="{176C227B-FE89-47A1-8792-D4E62F7A785C}" type="slidenum">
              <a:rPr lang="de-DE" smtClean="0"/>
              <a:t>23</a:t>
            </a:fld>
            <a:endParaRPr lang="de-DE"/>
          </a:p>
        </p:txBody>
      </p:sp>
    </p:spTree>
    <p:extLst>
      <p:ext uri="{BB962C8B-B14F-4D97-AF65-F5344CB8AC3E}">
        <p14:creationId xmlns:p14="http://schemas.microsoft.com/office/powerpoint/2010/main" val="2252065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451C5-B05D-053B-9A8B-6853C112D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C05983F4-EC6B-386D-6D3A-F41E5ED467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8265222B-41B7-58A5-6E4D-0831A9790124}"/>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0AD23E8C-50FE-DB41-5D1B-69D3E6FF0164}"/>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81390A1-C58D-9B9F-C054-D9F5761A7639}"/>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1043448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244F-F3C9-466E-202C-BF8BC38B897D}"/>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C0A21526-7F9B-88CC-293C-D5E7AFFA96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4696F66-AC99-F18F-FDE7-13B7165C2AAA}"/>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8A8B2921-354C-E549-2A7A-CB17D11646B0}"/>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275E549D-D8FC-7148-CD93-FFC4B12C5FA3}"/>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3752611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0B53-9640-4D81-6841-54029EBD29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16012D5F-EA5B-733D-0D8C-98FA86231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1B0B8B-0AE1-9249-C2B0-A25414C493B6}"/>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2B6C03D8-1DF5-3A4C-304D-1D10CDE4E629}"/>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5760DB2-1BA0-D063-280C-05B3F8ABEA34}"/>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2522626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77A0-37E8-2049-A860-474DE4E0AE73}"/>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92F86186-88BB-B819-578E-0CAA93D7FC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A7AD6C66-5803-5CFB-462E-D1381BD296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B7E1933F-D94F-387F-7F83-6C8B0BEC9E75}"/>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6" name="Footer Placeholder 5">
            <a:extLst>
              <a:ext uri="{FF2B5EF4-FFF2-40B4-BE49-F238E27FC236}">
                <a16:creationId xmlns:a16="http://schemas.microsoft.com/office/drawing/2014/main" id="{A161D123-4A04-D9E9-7DD4-744156AED352}"/>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FD9F1D34-028F-60CF-4512-274414125A60}"/>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412380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5F05-E9FF-98F5-1E17-DDB394DEB6A7}"/>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A1924F0E-A9E8-E2EB-4FC5-5A43A01EBA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26C871-E9CB-308E-E684-6A894C1697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C35CBFD1-5E26-BBCB-14B7-34B2EABEE9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616C97-9E12-2D35-1580-547918933F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740E2B53-392F-6ABC-FFE6-7860B858E01C}"/>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8" name="Footer Placeholder 7">
            <a:extLst>
              <a:ext uri="{FF2B5EF4-FFF2-40B4-BE49-F238E27FC236}">
                <a16:creationId xmlns:a16="http://schemas.microsoft.com/office/drawing/2014/main" id="{DE27C0C1-CA4E-A4E7-EF7D-E912B8A2D783}"/>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5C9E3501-E371-9253-DBC9-30BD04893ECB}"/>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2675957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3810D-985C-CB97-8E72-2B7D4F942EB6}"/>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6AB4D53B-D6AC-36F7-842A-FA3A27A7CC73}"/>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4" name="Footer Placeholder 3">
            <a:extLst>
              <a:ext uri="{FF2B5EF4-FFF2-40B4-BE49-F238E27FC236}">
                <a16:creationId xmlns:a16="http://schemas.microsoft.com/office/drawing/2014/main" id="{9F23257F-3CEA-E992-E12D-5B787376EAEB}"/>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EF93B14A-947E-41E2-BA74-AE7EE1C5BA82}"/>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257136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F5224E-3F54-968B-96F2-7576D3B79034}"/>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3" name="Footer Placeholder 2">
            <a:extLst>
              <a:ext uri="{FF2B5EF4-FFF2-40B4-BE49-F238E27FC236}">
                <a16:creationId xmlns:a16="http://schemas.microsoft.com/office/drawing/2014/main" id="{775258D8-5A5B-7B7B-2575-348CCFAC113C}"/>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19DD3E46-887E-A54B-2A97-A030F523365E}"/>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2951375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4FF8-E625-49F1-5339-6DC2C23A21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41AA306A-D976-3576-C625-D2369CF8FC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D2C18AC9-774B-CB8A-CEDC-3C14E24BB8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BF6890-F4D8-1B7C-52AD-5612E2A5B3D2}"/>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6" name="Footer Placeholder 5">
            <a:extLst>
              <a:ext uri="{FF2B5EF4-FFF2-40B4-BE49-F238E27FC236}">
                <a16:creationId xmlns:a16="http://schemas.microsoft.com/office/drawing/2014/main" id="{2592751B-BF96-15DF-654F-8EDC88245070}"/>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459522DA-FAB3-7E5C-DC78-D4F22EA6D4BE}"/>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1098443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E84F-9E16-B9D4-73C4-DEC6CB6A8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054DFCA7-CE14-97E5-7CC1-DF3E8430D0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61381BFB-B10C-B4E8-3191-A0683E8566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D6E3B1-8507-AFBE-293B-BFABB5B25FE4}"/>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6" name="Footer Placeholder 5">
            <a:extLst>
              <a:ext uri="{FF2B5EF4-FFF2-40B4-BE49-F238E27FC236}">
                <a16:creationId xmlns:a16="http://schemas.microsoft.com/office/drawing/2014/main" id="{8C2A8E9E-9F14-7758-423B-12A5A7AC594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D30C4176-9FF6-134E-0F17-3BF9B18D4409}"/>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156352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61FB-92CD-4A5A-DDB9-5255A120BF4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4096AC39-27D4-5AF4-C00C-5A743800B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E92BD63-2399-4321-D792-2572BCC40E72}"/>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0190FA1C-B71D-E7A0-D53F-F366C746BBF6}"/>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9A2031B-2EAD-007B-90DE-920821A40293}"/>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1592312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E27A60-61B1-21D8-424B-C1C5EF7581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F2C9E17B-2A6A-3007-A4D6-921A776633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AE226478-6425-152A-0160-7969C311154C}"/>
              </a:ext>
            </a:extLst>
          </p:cNvPr>
          <p:cNvSpPr>
            <a:spLocks noGrp="1"/>
          </p:cNvSpPr>
          <p:nvPr>
            <p:ph type="dt" sz="half" idx="10"/>
          </p:nvPr>
        </p:nvSpPr>
        <p:spPr/>
        <p:txBody>
          <a:body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BABECA1C-1995-FEEA-3444-BF5AF4CC1E8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9AF96EE-A516-A14F-4A29-7AA913888F0F}"/>
              </a:ext>
            </a:extLst>
          </p:cNvPr>
          <p:cNvSpPr>
            <a:spLocks noGrp="1"/>
          </p:cNvSpPr>
          <p:nvPr>
            <p:ph type="sldNum" sz="quarter" idx="12"/>
          </p:nvPr>
        </p:nvSpPr>
        <p:spPr/>
        <p:txBody>
          <a:bodyPr/>
          <a:lstStyle/>
          <a:p>
            <a:fld id="{7E0EBFC3-FA40-4DB0-8784-D1AE5BB3F644}" type="slidenum">
              <a:rPr lang="de-DE" smtClean="0"/>
              <a:t>‹#›</a:t>
            </a:fld>
            <a:endParaRPr lang="de-DE"/>
          </a:p>
        </p:txBody>
      </p:sp>
    </p:spTree>
    <p:extLst>
      <p:ext uri="{BB962C8B-B14F-4D97-AF65-F5344CB8AC3E}">
        <p14:creationId xmlns:p14="http://schemas.microsoft.com/office/powerpoint/2010/main" val="3255996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CF32D2-107D-ADA9-F5B2-7878C0C734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36FAFD83-2B5C-0820-A7FC-0856313002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AAE298A5-7EA9-02AB-7E37-E81CD9FE04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CDF56D-EF30-4DDB-B26B-03FE5ED08E39}" type="datetimeFigureOut">
              <a:rPr lang="de-DE" smtClean="0"/>
              <a:t>23.09.2024</a:t>
            </a:fld>
            <a:endParaRPr lang="de-DE"/>
          </a:p>
        </p:txBody>
      </p:sp>
      <p:sp>
        <p:nvSpPr>
          <p:cNvPr id="5" name="Footer Placeholder 4">
            <a:extLst>
              <a:ext uri="{FF2B5EF4-FFF2-40B4-BE49-F238E27FC236}">
                <a16:creationId xmlns:a16="http://schemas.microsoft.com/office/drawing/2014/main" id="{533AC78E-6AD4-7347-0732-564CA3FA6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2576F89C-FB60-7D53-5572-4CF911288F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0EBFC3-FA40-4DB0-8784-D1AE5BB3F644}" type="slidenum">
              <a:rPr lang="de-DE" smtClean="0"/>
              <a:t>‹#›</a:t>
            </a:fld>
            <a:endParaRPr lang="de-DE"/>
          </a:p>
        </p:txBody>
      </p:sp>
    </p:spTree>
    <p:extLst>
      <p:ext uri="{BB962C8B-B14F-4D97-AF65-F5344CB8AC3E}">
        <p14:creationId xmlns:p14="http://schemas.microsoft.com/office/powerpoint/2010/main" val="25419692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eenlight on traffic light">
            <a:extLst>
              <a:ext uri="{FF2B5EF4-FFF2-40B4-BE49-F238E27FC236}">
                <a16:creationId xmlns:a16="http://schemas.microsoft.com/office/drawing/2014/main" id="{C5F7D0FA-FE4D-63DB-D77E-11A5C17F76A7}"/>
              </a:ext>
            </a:extLst>
          </p:cNvPr>
          <p:cNvPicPr>
            <a:picLocks noChangeAspect="1"/>
          </p:cNvPicPr>
          <p:nvPr/>
        </p:nvPicPr>
        <p:blipFill>
          <a:blip r:embed="rId2">
            <a:alphaModFix amt="50000"/>
          </a:blip>
          <a:srcRect t="15709"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DFF44CDF-4C38-8B37-46FD-76DDAE5B35DE}"/>
              </a:ext>
            </a:extLst>
          </p:cNvPr>
          <p:cNvSpPr>
            <a:spLocks noGrp="1"/>
          </p:cNvSpPr>
          <p:nvPr>
            <p:ph type="ctrTitle"/>
          </p:nvPr>
        </p:nvSpPr>
        <p:spPr>
          <a:xfrm>
            <a:off x="1524000" y="1122363"/>
            <a:ext cx="9144000" cy="3063240"/>
          </a:xfrm>
        </p:spPr>
        <p:txBody>
          <a:bodyPr vert="horz" lIns="91440" tIns="45720" rIns="91440" bIns="45720" rtlCol="0">
            <a:normAutofit/>
          </a:bodyPr>
          <a:lstStyle/>
          <a:p>
            <a:r>
              <a:rPr lang="en-US" sz="5100" b="0" i="0" u="none" strike="noStrike" dirty="0">
                <a:solidFill>
                  <a:schemeClr val="bg1"/>
                </a:solidFill>
                <a:effectLst/>
              </a:rPr>
              <a:t>Demographic and Regional Influences on Traffic Violations and Vehicle Registration in Germany</a:t>
            </a:r>
            <a:endParaRPr lang="en-US" sz="5100" dirty="0">
              <a:solidFill>
                <a:schemeClr val="bg1"/>
              </a:solidFill>
            </a:endParaRPr>
          </a:p>
        </p:txBody>
      </p:sp>
      <p:sp>
        <p:nvSpPr>
          <p:cNvPr id="3" name="Subtitle 2">
            <a:extLst>
              <a:ext uri="{FF2B5EF4-FFF2-40B4-BE49-F238E27FC236}">
                <a16:creationId xmlns:a16="http://schemas.microsoft.com/office/drawing/2014/main" id="{84C8C2F5-6D73-5FC2-9EF5-544A22E8F15F}"/>
              </a:ext>
            </a:extLst>
          </p:cNvPr>
          <p:cNvSpPr>
            <a:spLocks noGrp="1"/>
          </p:cNvSpPr>
          <p:nvPr>
            <p:ph type="subTitle" idx="1"/>
          </p:nvPr>
        </p:nvSpPr>
        <p:spPr>
          <a:xfrm>
            <a:off x="1527048" y="4599432"/>
            <a:ext cx="9144000" cy="1536192"/>
          </a:xfrm>
        </p:spPr>
        <p:txBody>
          <a:bodyPr vert="horz" lIns="91440" tIns="45720" rIns="91440" bIns="45720" rtlCol="0">
            <a:noAutofit/>
          </a:bodyPr>
          <a:lstStyle/>
          <a:p>
            <a:r>
              <a:rPr lang="en-US" sz="2800" b="0" i="0" dirty="0">
                <a:solidFill>
                  <a:schemeClr val="bg1"/>
                </a:solidFill>
                <a:effectLst/>
              </a:rPr>
              <a:t>Data and AI in Economics</a:t>
            </a:r>
          </a:p>
          <a:p>
            <a:pPr indent="-228600">
              <a:buFont typeface="Arial" panose="020B0604020202020204" pitchFamily="34" charset="0"/>
              <a:buChar char="•"/>
            </a:pPr>
            <a:r>
              <a:rPr lang="en-US" sz="2000" dirty="0">
                <a:solidFill>
                  <a:schemeClr val="bg1"/>
                </a:solidFill>
              </a:rPr>
              <a:t>236763 </a:t>
            </a:r>
            <a:r>
              <a:rPr lang="en-US" sz="2000" dirty="0" err="1">
                <a:solidFill>
                  <a:schemeClr val="bg1"/>
                </a:solidFill>
              </a:rPr>
              <a:t>Bedrettin</a:t>
            </a:r>
            <a:r>
              <a:rPr lang="en-US" sz="2000" dirty="0">
                <a:solidFill>
                  <a:schemeClr val="bg1"/>
                </a:solidFill>
              </a:rPr>
              <a:t> </a:t>
            </a:r>
            <a:r>
              <a:rPr lang="en-US" sz="2000" dirty="0" err="1">
                <a:solidFill>
                  <a:schemeClr val="bg1"/>
                </a:solidFill>
              </a:rPr>
              <a:t>Aybay</a:t>
            </a:r>
            <a:endParaRPr lang="en-US" sz="2000" dirty="0">
              <a:solidFill>
                <a:schemeClr val="bg1"/>
              </a:solidFill>
            </a:endParaRPr>
          </a:p>
          <a:p>
            <a:pPr indent="-228600">
              <a:buFont typeface="Arial" panose="020B0604020202020204" pitchFamily="34" charset="0"/>
              <a:buChar char="•"/>
            </a:pPr>
            <a:r>
              <a:rPr lang="en-US" sz="2000" dirty="0">
                <a:solidFill>
                  <a:schemeClr val="bg1"/>
                </a:solidFill>
              </a:rPr>
              <a:t>238060 </a:t>
            </a:r>
            <a:r>
              <a:rPr lang="en-US" sz="2000" dirty="0" err="1">
                <a:solidFill>
                  <a:schemeClr val="bg1"/>
                </a:solidFill>
              </a:rPr>
              <a:t>Burak</a:t>
            </a:r>
            <a:r>
              <a:rPr lang="en-US" sz="2000" dirty="0">
                <a:solidFill>
                  <a:schemeClr val="bg1"/>
                </a:solidFill>
              </a:rPr>
              <a:t> Dede</a:t>
            </a:r>
          </a:p>
          <a:p>
            <a:pPr indent="-228600">
              <a:buFont typeface="Arial" panose="020B0604020202020204" pitchFamily="34" charset="0"/>
              <a:buChar char="•"/>
            </a:pPr>
            <a:r>
              <a:rPr lang="en-US" sz="2000" dirty="0">
                <a:solidFill>
                  <a:schemeClr val="bg1"/>
                </a:solidFill>
              </a:rPr>
              <a:t>231286 Ebru </a:t>
            </a:r>
            <a:r>
              <a:rPr lang="en-US" sz="2000" dirty="0" err="1">
                <a:solidFill>
                  <a:schemeClr val="bg1"/>
                </a:solidFill>
              </a:rPr>
              <a:t>Aydogdu</a:t>
            </a:r>
            <a:endParaRPr lang="en-US" sz="2000" dirty="0">
              <a:solidFill>
                <a:schemeClr val="bg1"/>
              </a:solidFill>
            </a:endParaRPr>
          </a:p>
          <a:p>
            <a:pPr indent="-228600">
              <a:buFont typeface="Arial" panose="020B0604020202020204" pitchFamily="34" charset="0"/>
              <a:buChar char="•"/>
            </a:pPr>
            <a:r>
              <a:rPr lang="en-US" sz="2000" dirty="0">
                <a:solidFill>
                  <a:schemeClr val="bg1"/>
                </a:solidFill>
              </a:rPr>
              <a:t>243283 Yigit Can Tekin</a:t>
            </a: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2365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9CBBA-B02E-15AD-2189-6F3F9A43015C}"/>
              </a:ext>
            </a:extLst>
          </p:cNvPr>
          <p:cNvSpPr>
            <a:spLocks noGrp="1"/>
          </p:cNvSpPr>
          <p:nvPr>
            <p:ph type="title"/>
          </p:nvPr>
        </p:nvSpPr>
        <p:spPr>
          <a:xfrm>
            <a:off x="630936" y="640080"/>
            <a:ext cx="4818888" cy="1481328"/>
          </a:xfrm>
        </p:spPr>
        <p:txBody>
          <a:bodyPr anchor="b">
            <a:normAutofit/>
          </a:bodyPr>
          <a:lstStyle/>
          <a:p>
            <a:r>
              <a:rPr lang="de-DE" sz="5400"/>
              <a:t>Introduction</a:t>
            </a:r>
          </a:p>
        </p:txBody>
      </p:sp>
      <p:sp>
        <p:nvSpPr>
          <p:cNvPr id="3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F44A62A1-37A0-025A-E354-C45A5720BFA8}"/>
              </a:ext>
            </a:extLst>
          </p:cNvPr>
          <p:cNvSpPr>
            <a:spLocks noGrp="1"/>
          </p:cNvSpPr>
          <p:nvPr>
            <p:ph idx="1"/>
          </p:nvPr>
        </p:nvSpPr>
        <p:spPr>
          <a:xfrm>
            <a:off x="630936" y="2660904"/>
            <a:ext cx="4818888" cy="3547872"/>
          </a:xfrm>
        </p:spPr>
        <p:txBody>
          <a:bodyPr anchor="t">
            <a:normAutofit/>
          </a:bodyPr>
          <a:lstStyle/>
          <a:p>
            <a:r>
              <a:rPr lang="en-US" sz="2200"/>
              <a:t> The project investigates the influence of demographic (age, gender) and regional (urban vs rural) factors on traffic violations, penalties, and vehicle registrations.</a:t>
            </a:r>
          </a:p>
          <a:p>
            <a:r>
              <a:rPr lang="en-US" sz="2200"/>
              <a:t>Focus is on the adoption of electric vehicles (EVs) and how government incentives, like the Umweltbonus, impact these factors.</a:t>
            </a:r>
          </a:p>
        </p:txBody>
      </p:sp>
      <p:pic>
        <p:nvPicPr>
          <p:cNvPr id="5" name="Content Placeholder 4" descr="A map of germany with blue squares&#10;&#10;Description automatically generated">
            <a:extLst>
              <a:ext uri="{FF2B5EF4-FFF2-40B4-BE49-F238E27FC236}">
                <a16:creationId xmlns:a16="http://schemas.microsoft.com/office/drawing/2014/main" id="{4342457C-1B4E-81A8-BBF5-3D28C70BEBAF}"/>
              </a:ext>
            </a:extLst>
          </p:cNvPr>
          <p:cNvPicPr>
            <a:picLocks noChangeAspect="1"/>
          </p:cNvPicPr>
          <p:nvPr/>
        </p:nvPicPr>
        <p:blipFill>
          <a:blip r:embed="rId2">
            <a:extLst>
              <a:ext uri="{28A0092B-C50C-407E-A947-70E740481C1C}">
                <a14:useLocalDpi xmlns:a14="http://schemas.microsoft.com/office/drawing/2010/main" val="0"/>
              </a:ext>
            </a:extLst>
          </a:blip>
          <a:srcRect t="7127" r="2" b="2"/>
          <a:stretch/>
        </p:blipFill>
        <p:spPr>
          <a:xfrm>
            <a:off x="6403655" y="640080"/>
            <a:ext cx="4849754" cy="5577840"/>
          </a:xfrm>
          <a:prstGeom prst="rect">
            <a:avLst/>
          </a:prstGeom>
        </p:spPr>
      </p:pic>
    </p:spTree>
    <p:extLst>
      <p:ext uri="{BB962C8B-B14F-4D97-AF65-F5344CB8AC3E}">
        <p14:creationId xmlns:p14="http://schemas.microsoft.com/office/powerpoint/2010/main" val="3580386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Close-up of a server network panel with lights and cables">
            <a:extLst>
              <a:ext uri="{FF2B5EF4-FFF2-40B4-BE49-F238E27FC236}">
                <a16:creationId xmlns:a16="http://schemas.microsoft.com/office/drawing/2014/main" id="{B7BC5694-FD41-5849-152F-2863F31AEE62}"/>
              </a:ext>
            </a:extLst>
          </p:cNvPr>
          <p:cNvPicPr>
            <a:picLocks noChangeAspect="1"/>
          </p:cNvPicPr>
          <p:nvPr/>
        </p:nvPicPr>
        <p:blipFill>
          <a:blip r:embed="rId2"/>
          <a:srcRect t="2594" r="1" b="12894"/>
          <a:stretch/>
        </p:blipFill>
        <p:spPr>
          <a:xfrm>
            <a:off x="-3447" y="-1"/>
            <a:ext cx="12195447" cy="6879745"/>
          </a:xfrm>
          <a:prstGeom prst="rect">
            <a:avLst/>
          </a:prstGeom>
        </p:spPr>
      </p:pic>
      <p:sp>
        <p:nvSpPr>
          <p:cNvPr id="19" name="Rectangle 1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7" name="Rectangle 2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7FA5B8-8B9F-08C1-0E3C-BF3B1C09EE8B}"/>
              </a:ext>
            </a:extLst>
          </p:cNvPr>
          <p:cNvSpPr>
            <a:spLocks noGrp="1"/>
          </p:cNvSpPr>
          <p:nvPr>
            <p:ph type="title"/>
          </p:nvPr>
        </p:nvSpPr>
        <p:spPr>
          <a:xfrm>
            <a:off x="859028" y="4121944"/>
            <a:ext cx="7927785" cy="1620665"/>
          </a:xfrm>
        </p:spPr>
        <p:txBody>
          <a:bodyPr vert="horz" lIns="91440" tIns="45720" rIns="91440" bIns="45720" rtlCol="0" anchor="b">
            <a:normAutofit/>
          </a:bodyPr>
          <a:lstStyle/>
          <a:p>
            <a:r>
              <a:rPr lang="en-US" sz="4000" dirty="0">
                <a:solidFill>
                  <a:srgbClr val="FFFFFF"/>
                </a:solidFill>
              </a:rPr>
              <a:t> Data Preparation</a:t>
            </a:r>
          </a:p>
        </p:txBody>
      </p:sp>
      <p:sp>
        <p:nvSpPr>
          <p:cNvPr id="3" name="Content Placeholder 2">
            <a:extLst>
              <a:ext uri="{FF2B5EF4-FFF2-40B4-BE49-F238E27FC236}">
                <a16:creationId xmlns:a16="http://schemas.microsoft.com/office/drawing/2014/main" id="{CB538684-B53E-89C7-1A9D-4578DDD1C831}"/>
              </a:ext>
            </a:extLst>
          </p:cNvPr>
          <p:cNvSpPr>
            <a:spLocks noGrp="1"/>
          </p:cNvSpPr>
          <p:nvPr>
            <p:ph idx="1"/>
          </p:nvPr>
        </p:nvSpPr>
        <p:spPr>
          <a:xfrm>
            <a:off x="970377" y="5742609"/>
            <a:ext cx="7942381" cy="618479"/>
          </a:xfrm>
        </p:spPr>
        <p:txBody>
          <a:bodyPr vert="horz" lIns="91440" tIns="45720" rIns="91440" bIns="45720" rtlCol="0">
            <a:normAutofit/>
          </a:bodyPr>
          <a:lstStyle/>
          <a:p>
            <a:pPr marL="0" indent="0">
              <a:buNone/>
            </a:pPr>
            <a:r>
              <a:rPr lang="en-US" sz="2000" dirty="0">
                <a:solidFill>
                  <a:srgbClr val="FFFFFF"/>
                </a:solidFill>
              </a:rPr>
              <a:t>Data Acquisition &amp; Data Cleaning</a:t>
            </a:r>
          </a:p>
        </p:txBody>
      </p:sp>
    </p:spTree>
    <p:extLst>
      <p:ext uri="{BB962C8B-B14F-4D97-AF65-F5344CB8AC3E}">
        <p14:creationId xmlns:p14="http://schemas.microsoft.com/office/powerpoint/2010/main" val="7623529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and red and yellow logo&#10;&#10;Description automatically generated">
            <a:extLst>
              <a:ext uri="{FF2B5EF4-FFF2-40B4-BE49-F238E27FC236}">
                <a16:creationId xmlns:a16="http://schemas.microsoft.com/office/drawing/2014/main" id="{4CBF0A27-78D1-CDE6-4BE4-C098A14673A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2333" r="1" b="1"/>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4BCD535E-B64E-15ED-AD13-94465CC20BE2}"/>
              </a:ext>
            </a:extLst>
          </p:cNvPr>
          <p:cNvSpPr>
            <a:spLocks noGrp="1"/>
          </p:cNvSpPr>
          <p:nvPr>
            <p:ph type="title"/>
          </p:nvPr>
        </p:nvSpPr>
        <p:spPr>
          <a:xfrm>
            <a:off x="838200" y="525195"/>
            <a:ext cx="10165218" cy="2198955"/>
          </a:xfrm>
        </p:spPr>
        <p:txBody>
          <a:bodyPr anchor="b">
            <a:normAutofit/>
          </a:bodyPr>
          <a:lstStyle/>
          <a:p>
            <a:r>
              <a:rPr lang="de-DE" sz="4000" dirty="0">
                <a:solidFill>
                  <a:srgbClr val="FFFFFF"/>
                </a:solidFill>
              </a:rPr>
              <a:t>Data Acquisition</a:t>
            </a:r>
          </a:p>
        </p:txBody>
      </p:sp>
      <p:sp>
        <p:nvSpPr>
          <p:cNvPr id="3" name="Content Placeholder 2">
            <a:extLst>
              <a:ext uri="{FF2B5EF4-FFF2-40B4-BE49-F238E27FC236}">
                <a16:creationId xmlns:a16="http://schemas.microsoft.com/office/drawing/2014/main" id="{2439BFD2-9C43-A4FA-1DAB-0B7F3E9D408B}"/>
              </a:ext>
            </a:extLst>
          </p:cNvPr>
          <p:cNvSpPr>
            <a:spLocks noGrp="1"/>
          </p:cNvSpPr>
          <p:nvPr>
            <p:ph idx="1"/>
          </p:nvPr>
        </p:nvSpPr>
        <p:spPr>
          <a:xfrm>
            <a:off x="838200" y="2657475"/>
            <a:ext cx="10165218" cy="3457283"/>
          </a:xfrm>
        </p:spPr>
        <p:txBody>
          <a:bodyPr>
            <a:noAutofit/>
          </a:bodyPr>
          <a:lstStyle/>
          <a:p>
            <a:pPr marL="0" indent="0">
              <a:buNone/>
            </a:pPr>
            <a:r>
              <a:rPr lang="de-DE" sz="1600" b="1" dirty="0">
                <a:solidFill>
                  <a:srgbClr val="FFFFFF"/>
                </a:solidFill>
              </a:rPr>
              <a:t>Source</a:t>
            </a:r>
            <a:r>
              <a:rPr lang="de-DE" sz="1600" dirty="0">
                <a:solidFill>
                  <a:srgbClr val="FFFFFF"/>
                </a:solidFill>
              </a:rPr>
              <a:t>:</a:t>
            </a:r>
          </a:p>
          <a:p>
            <a:r>
              <a:rPr lang="en-US" sz="1600" dirty="0">
                <a:solidFill>
                  <a:srgbClr val="FFFFFF"/>
                </a:solidFill>
              </a:rPr>
              <a:t>The data was acquired from the *Federal Motor Transport Authority (KBA)*, which provides detailed statistics on vehicle registrations, traffic violations, and demographic information of drivers in Germany.  </a:t>
            </a:r>
          </a:p>
          <a:p>
            <a:r>
              <a:rPr lang="en-US" sz="1600" dirty="0">
                <a:solidFill>
                  <a:srgbClr val="FFFFFF"/>
                </a:solidFill>
              </a:rPr>
              <a:t>The dataset includes information on new vehicle registrations by brand and the adoption of alternative drive types (electric, hybrid, etc.).</a:t>
            </a:r>
          </a:p>
          <a:p>
            <a:pPr marL="0" indent="0">
              <a:buNone/>
            </a:pPr>
            <a:r>
              <a:rPr lang="en-US" sz="1600" b="1" dirty="0">
                <a:solidFill>
                  <a:srgbClr val="FFFFFF"/>
                </a:solidFill>
              </a:rPr>
              <a:t>Procedure:</a:t>
            </a:r>
            <a:r>
              <a:rPr lang="en-US" sz="1600" dirty="0">
                <a:solidFill>
                  <a:srgbClr val="FFFFFF"/>
                </a:solidFill>
              </a:rPr>
              <a:t> </a:t>
            </a:r>
          </a:p>
          <a:p>
            <a:r>
              <a:rPr lang="en-US" sz="1600" dirty="0">
                <a:solidFill>
                  <a:srgbClr val="FFFFFF"/>
                </a:solidFill>
              </a:rPr>
              <a:t>Data was extracted from a *PDF report* on the KBA website, specifically for the first quarter of 2022.</a:t>
            </a:r>
          </a:p>
          <a:p>
            <a:r>
              <a:rPr lang="en-US" sz="1600" dirty="0">
                <a:solidFill>
                  <a:srgbClr val="FFFFFF"/>
                </a:solidFill>
              </a:rPr>
              <a:t>The report outlines vehicle registrations by brand and the adoption of alternative drive types.  </a:t>
            </a:r>
          </a:p>
          <a:p>
            <a:r>
              <a:rPr lang="en-US" sz="1600" b="1" dirty="0">
                <a:solidFill>
                  <a:srgbClr val="FFFFFF"/>
                </a:solidFill>
              </a:rPr>
              <a:t>Manual data structuring </a:t>
            </a:r>
            <a:r>
              <a:rPr lang="en-US" sz="1600" dirty="0">
                <a:solidFill>
                  <a:srgbClr val="FFFFFF"/>
                </a:solidFill>
              </a:rPr>
              <a:t>was done to categorize the data into:    </a:t>
            </a:r>
          </a:p>
          <a:p>
            <a:pPr lvl="1"/>
            <a:r>
              <a:rPr lang="en-US" sz="1600" dirty="0">
                <a:solidFill>
                  <a:srgbClr val="FFFFFF"/>
                </a:solidFill>
              </a:rPr>
              <a:t>Brand</a:t>
            </a:r>
          </a:p>
          <a:p>
            <a:pPr lvl="1"/>
            <a:r>
              <a:rPr lang="en-US" sz="1600" dirty="0">
                <a:solidFill>
                  <a:srgbClr val="FFFFFF"/>
                </a:solidFill>
              </a:rPr>
              <a:t>Total New Registrations </a:t>
            </a:r>
          </a:p>
          <a:p>
            <a:pPr lvl="1"/>
            <a:r>
              <a:rPr lang="en-US" sz="1600" dirty="0">
                <a:solidFill>
                  <a:srgbClr val="FFFFFF"/>
                </a:solidFill>
              </a:rPr>
              <a:t>Alternative Drive Registrations</a:t>
            </a:r>
          </a:p>
          <a:p>
            <a:pPr lvl="1"/>
            <a:r>
              <a:rPr lang="en-US" sz="1600" dirty="0">
                <a:solidFill>
                  <a:srgbClr val="FFFFFF"/>
                </a:solidFill>
              </a:rPr>
              <a:t>Percentage of Alternative Drive Vehicles</a:t>
            </a:r>
            <a:endParaRPr lang="de-DE" sz="1600" dirty="0">
              <a:solidFill>
                <a:srgbClr val="FFFFFF"/>
              </a:solidFill>
            </a:endParaRPr>
          </a:p>
        </p:txBody>
      </p:sp>
    </p:spTree>
    <p:extLst>
      <p:ext uri="{BB962C8B-B14F-4D97-AF65-F5344CB8AC3E}">
        <p14:creationId xmlns:p14="http://schemas.microsoft.com/office/powerpoint/2010/main" val="1719009960"/>
      </p:ext>
    </p:extLst>
  </p:cSld>
  <p:clrMapOvr>
    <a:masterClrMapping/>
  </p:clrMapOvr>
  <mc:AlternateContent xmlns:mc="http://schemas.openxmlformats.org/markup-compatibility/2006" xmlns:p14="http://schemas.microsoft.com/office/powerpoint/2010/main">
    <mc:Choice Requires="p14">
      <p:transition spd="slow" p14:dur="1300">
        <p14:pan di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6FE1271-A839-25A5-A2F3-9480C8284E47}"/>
              </a:ext>
            </a:extLst>
          </p:cNvPr>
          <p:cNvSpPr>
            <a:spLocks noGrp="1"/>
          </p:cNvSpPr>
          <p:nvPr>
            <p:ph type="title"/>
          </p:nvPr>
        </p:nvSpPr>
        <p:spPr>
          <a:xfrm>
            <a:off x="838200" y="365126"/>
            <a:ext cx="5393361" cy="825500"/>
          </a:xfrm>
        </p:spPr>
        <p:txBody>
          <a:bodyPr>
            <a:normAutofit/>
          </a:bodyPr>
          <a:lstStyle/>
          <a:p>
            <a:r>
              <a:rPr lang="de-DE" dirty="0"/>
              <a:t>Data </a:t>
            </a:r>
            <a:r>
              <a:rPr lang="de-DE" dirty="0" err="1"/>
              <a:t>Cleaning</a:t>
            </a:r>
            <a:endParaRPr lang="de-DE" dirty="0"/>
          </a:p>
        </p:txBody>
      </p:sp>
      <p:sp>
        <p:nvSpPr>
          <p:cNvPr id="56" name="Content Placeholder 2">
            <a:extLst>
              <a:ext uri="{FF2B5EF4-FFF2-40B4-BE49-F238E27FC236}">
                <a16:creationId xmlns:a16="http://schemas.microsoft.com/office/drawing/2014/main" id="{2B8036F4-7527-E272-120A-CDA2591D401C}"/>
              </a:ext>
            </a:extLst>
          </p:cNvPr>
          <p:cNvSpPr>
            <a:spLocks noGrp="1"/>
          </p:cNvSpPr>
          <p:nvPr>
            <p:ph idx="1"/>
          </p:nvPr>
        </p:nvSpPr>
        <p:spPr>
          <a:xfrm>
            <a:off x="838200" y="1190626"/>
            <a:ext cx="5393361" cy="4776788"/>
          </a:xfrm>
        </p:spPr>
        <p:txBody>
          <a:bodyPr>
            <a:noAutofit/>
          </a:bodyPr>
          <a:lstStyle/>
          <a:p>
            <a:pPr marL="0" indent="0">
              <a:buNone/>
            </a:pPr>
            <a:r>
              <a:rPr lang="de-DE" sz="1400" b="1" dirty="0"/>
              <a:t>Handling </a:t>
            </a:r>
            <a:r>
              <a:rPr lang="de-DE" sz="1400" b="1" dirty="0" err="1"/>
              <a:t>Missing</a:t>
            </a:r>
            <a:r>
              <a:rPr lang="de-DE" sz="1400" b="1" dirty="0"/>
              <a:t> Values</a:t>
            </a:r>
            <a:r>
              <a:rPr lang="de-DE" sz="1400" dirty="0"/>
              <a:t>:</a:t>
            </a:r>
          </a:p>
          <a:p>
            <a:r>
              <a:rPr lang="en-US" sz="1400" dirty="0"/>
              <a:t>The dataset had minimal missing values due to its structured nature as a statistical report.</a:t>
            </a:r>
          </a:p>
          <a:p>
            <a:r>
              <a:rPr lang="en-US" sz="1400" dirty="0"/>
              <a:t>In cases of missing values (e.g., brands with no alternative drive registrations), I either filled the values with zeros or removed irrelevant rows.</a:t>
            </a:r>
          </a:p>
          <a:p>
            <a:pPr marL="0" indent="0">
              <a:buNone/>
            </a:pPr>
            <a:r>
              <a:rPr lang="de-DE" sz="1400" b="1" dirty="0" err="1"/>
              <a:t>Standardizing</a:t>
            </a:r>
            <a:r>
              <a:rPr lang="de-DE" sz="1400" b="1" dirty="0"/>
              <a:t> Data </a:t>
            </a:r>
            <a:r>
              <a:rPr lang="de-DE" sz="1400" b="1" dirty="0" err="1"/>
              <a:t>Types</a:t>
            </a:r>
            <a:r>
              <a:rPr lang="de-DE" sz="1400" b="1" dirty="0"/>
              <a:t>:</a:t>
            </a:r>
          </a:p>
          <a:p>
            <a:r>
              <a:rPr lang="en-US" sz="1400" dirty="0"/>
              <a:t>Dates were converted to </a:t>
            </a:r>
            <a:r>
              <a:rPr lang="en-US" sz="1400" b="1" dirty="0"/>
              <a:t>datetime objects </a:t>
            </a:r>
            <a:r>
              <a:rPr lang="en-US" sz="1400" dirty="0"/>
              <a:t>for time-series analysis.  </a:t>
            </a:r>
          </a:p>
          <a:p>
            <a:r>
              <a:rPr lang="en-US" sz="1400" dirty="0"/>
              <a:t>Numeric columns, such as "Percentage of Alternative Drives" and "New Registrations," were converted to appropriate types for analysis.</a:t>
            </a:r>
          </a:p>
          <a:p>
            <a:pPr marL="0" indent="0">
              <a:buNone/>
            </a:pPr>
            <a:r>
              <a:rPr lang="en-US" sz="1400" b="1" dirty="0"/>
              <a:t>Removing Outliers and Irrelevant Data:</a:t>
            </a:r>
          </a:p>
          <a:p>
            <a:r>
              <a:rPr lang="en-US" sz="1400" dirty="0"/>
              <a:t> Outliers, particularly for smaller brands with few registrations, were reviewed and either removed or flagged.</a:t>
            </a:r>
          </a:p>
          <a:p>
            <a:r>
              <a:rPr lang="en-US" sz="1400" dirty="0"/>
              <a:t>Brands with </a:t>
            </a:r>
            <a:r>
              <a:rPr lang="en-US" sz="1400" b="1" dirty="0"/>
              <a:t>nearly no alternative drive adoption </a:t>
            </a:r>
            <a:r>
              <a:rPr lang="en-US" sz="1400" dirty="0"/>
              <a:t>were treated as exceptions.</a:t>
            </a:r>
          </a:p>
          <a:p>
            <a:pPr marL="0" indent="0">
              <a:buNone/>
            </a:pPr>
            <a:r>
              <a:rPr lang="en-US" sz="1400" b="1" dirty="0"/>
              <a:t>Feature Creation:</a:t>
            </a:r>
          </a:p>
          <a:p>
            <a:r>
              <a:rPr lang="en-US" sz="1400" dirty="0"/>
              <a:t>Created a new feature categorizing brands into to analyze the adoption of alternative drives across different brand types.</a:t>
            </a:r>
            <a:r>
              <a:rPr lang="en-US" sz="1400" b="1" dirty="0"/>
              <a:t> premium vs. non-premium </a:t>
            </a:r>
            <a:endParaRPr lang="de-DE" sz="1400" dirty="0"/>
          </a:p>
        </p:txBody>
      </p:sp>
      <p:pic>
        <p:nvPicPr>
          <p:cNvPr id="5" name="Picture 4" descr="Graph">
            <a:extLst>
              <a:ext uri="{FF2B5EF4-FFF2-40B4-BE49-F238E27FC236}">
                <a16:creationId xmlns:a16="http://schemas.microsoft.com/office/drawing/2014/main" id="{C58AA62C-3AF7-98EE-2AE2-24E5E5A307F1}"/>
              </a:ext>
            </a:extLst>
          </p:cNvPr>
          <p:cNvPicPr>
            <a:picLocks noChangeAspect="1"/>
          </p:cNvPicPr>
          <p:nvPr/>
        </p:nvPicPr>
        <p:blipFill>
          <a:blip r:embed="rId2"/>
          <a:srcRect l="11184" r="26316"/>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6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681253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AD57E7-8149-0CB8-3A5E-1FA05D14C24F}"/>
              </a:ext>
            </a:extLst>
          </p:cNvPr>
          <p:cNvSpPr>
            <a:spLocks noGrp="1"/>
          </p:cNvSpPr>
          <p:nvPr>
            <p:ph type="title"/>
          </p:nvPr>
        </p:nvSpPr>
        <p:spPr>
          <a:xfrm>
            <a:off x="838201" y="345810"/>
            <a:ext cx="5120561" cy="1325563"/>
          </a:xfrm>
        </p:spPr>
        <p:txBody>
          <a:bodyPr>
            <a:normAutofit/>
          </a:bodyPr>
          <a:lstStyle/>
          <a:p>
            <a:r>
              <a:rPr lang="de-DE" b="1" dirty="0"/>
              <a:t>Summary</a:t>
            </a:r>
          </a:p>
        </p:txBody>
      </p:sp>
      <p:sp>
        <p:nvSpPr>
          <p:cNvPr id="3" name="Content Placeholder 2">
            <a:extLst>
              <a:ext uri="{FF2B5EF4-FFF2-40B4-BE49-F238E27FC236}">
                <a16:creationId xmlns:a16="http://schemas.microsoft.com/office/drawing/2014/main" id="{7A118442-873E-4B46-BE71-5A283C9F1A33}"/>
              </a:ext>
            </a:extLst>
          </p:cNvPr>
          <p:cNvSpPr>
            <a:spLocks noGrp="1"/>
          </p:cNvSpPr>
          <p:nvPr>
            <p:ph idx="1"/>
          </p:nvPr>
        </p:nvSpPr>
        <p:spPr>
          <a:xfrm>
            <a:off x="838201" y="1825625"/>
            <a:ext cx="5092194" cy="4351338"/>
          </a:xfrm>
        </p:spPr>
        <p:txBody>
          <a:bodyPr>
            <a:normAutofit/>
          </a:bodyPr>
          <a:lstStyle/>
          <a:p>
            <a:pPr marL="0" indent="0">
              <a:buNone/>
            </a:pPr>
            <a:r>
              <a:rPr lang="en-US" sz="2600" b="1"/>
              <a:t>Data Acquisition</a:t>
            </a:r>
            <a:r>
              <a:rPr lang="en-US" sz="2600"/>
              <a:t>:</a:t>
            </a:r>
          </a:p>
          <a:p>
            <a:r>
              <a:rPr lang="en-US" sz="2600"/>
              <a:t>The data was sourced from the KBA’s official statistical reports.</a:t>
            </a:r>
          </a:p>
          <a:p>
            <a:pPr marL="0" indent="0">
              <a:buNone/>
            </a:pPr>
            <a:r>
              <a:rPr lang="en-US" sz="2600" b="1"/>
              <a:t>Data Cleaning</a:t>
            </a:r>
            <a:r>
              <a:rPr lang="en-US" sz="2600"/>
              <a:t>:  </a:t>
            </a:r>
          </a:p>
          <a:p>
            <a:r>
              <a:rPr lang="en-US" sz="2600"/>
              <a:t>Missing values were handled, data types were standardized, outliers were removed, and useful features like "premium vs non-premium brands" were created to enhance the analysis.</a:t>
            </a:r>
            <a:endParaRPr lang="de-DE" sz="2600"/>
          </a:p>
        </p:txBody>
      </p:sp>
      <p:sp>
        <p:nvSpPr>
          <p:cNvPr id="33" name="Oval 3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A brooms and dustpans in the air&#10;&#10;Description automatically generated">
            <a:extLst>
              <a:ext uri="{FF2B5EF4-FFF2-40B4-BE49-F238E27FC236}">
                <a16:creationId xmlns:a16="http://schemas.microsoft.com/office/drawing/2014/main" id="{09DE531A-6BE3-8A7C-8EC1-EFD4A9523E22}"/>
              </a:ext>
            </a:extLst>
          </p:cNvPr>
          <p:cNvPicPr>
            <a:picLocks noChangeAspect="1"/>
          </p:cNvPicPr>
          <p:nvPr/>
        </p:nvPicPr>
        <p:blipFill>
          <a:blip r:embed="rId2">
            <a:extLst>
              <a:ext uri="{28A0092B-C50C-407E-A947-70E740481C1C}">
                <a14:useLocalDpi xmlns:a14="http://schemas.microsoft.com/office/drawing/2010/main" val="0"/>
              </a:ext>
            </a:extLst>
          </a:blip>
          <a:srcRect l="16553" r="5536" b="3"/>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34" name="Arc 33">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7" name="Picture 6" descr="A diagram of different types of computer devices&#10;&#10;Description automatically generated with medium confidence">
            <a:extLst>
              <a:ext uri="{FF2B5EF4-FFF2-40B4-BE49-F238E27FC236}">
                <a16:creationId xmlns:a16="http://schemas.microsoft.com/office/drawing/2014/main" id="{4F996BA9-C7A8-30E8-68EA-C060C65B77AA}"/>
              </a:ext>
            </a:extLst>
          </p:cNvPr>
          <p:cNvPicPr>
            <a:picLocks noChangeAspect="1"/>
          </p:cNvPicPr>
          <p:nvPr/>
        </p:nvPicPr>
        <p:blipFill>
          <a:blip r:embed="rId3">
            <a:extLst>
              <a:ext uri="{28A0092B-C50C-407E-A947-70E740481C1C}">
                <a14:useLocalDpi xmlns:a14="http://schemas.microsoft.com/office/drawing/2010/main" val="0"/>
              </a:ext>
            </a:extLst>
          </a:blip>
          <a:srcRect l="2296" r="9949" b="-4"/>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38807305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C30D8-F5F6-B0F6-25C9-ECCB2AB60398}"/>
              </a:ext>
            </a:extLst>
          </p:cNvPr>
          <p:cNvSpPr>
            <a:spLocks noGrp="1"/>
          </p:cNvSpPr>
          <p:nvPr>
            <p:ph type="title"/>
          </p:nvPr>
        </p:nvSpPr>
        <p:spPr>
          <a:xfrm>
            <a:off x="481014" y="327025"/>
            <a:ext cx="5167311" cy="1946274"/>
          </a:xfrm>
        </p:spPr>
        <p:txBody>
          <a:bodyPr anchor="b">
            <a:normAutofit/>
          </a:bodyPr>
          <a:lstStyle/>
          <a:p>
            <a:r>
              <a:rPr lang="de-DE" sz="3600"/>
              <a:t>Research Questions</a:t>
            </a:r>
          </a:p>
        </p:txBody>
      </p:sp>
      <p:sp>
        <p:nvSpPr>
          <p:cNvPr id="26" name="Content Placeholder 8">
            <a:extLst>
              <a:ext uri="{FF2B5EF4-FFF2-40B4-BE49-F238E27FC236}">
                <a16:creationId xmlns:a16="http://schemas.microsoft.com/office/drawing/2014/main" id="{BA0998EA-1AD1-2CC7-D68A-44663A59E13F}"/>
              </a:ext>
            </a:extLst>
          </p:cNvPr>
          <p:cNvSpPr>
            <a:spLocks noGrp="1"/>
          </p:cNvSpPr>
          <p:nvPr>
            <p:ph idx="1"/>
          </p:nvPr>
        </p:nvSpPr>
        <p:spPr>
          <a:xfrm>
            <a:off x="481014" y="2614613"/>
            <a:ext cx="5167311" cy="3590925"/>
          </a:xfrm>
        </p:spPr>
        <p:txBody>
          <a:bodyPr>
            <a:normAutofit/>
          </a:bodyPr>
          <a:lstStyle/>
          <a:p>
            <a:r>
              <a:rPr lang="en-US" sz="1800"/>
              <a:t> What demographic factors influence the likelihood of receiving penalties (e.g., age, gender)?</a:t>
            </a:r>
          </a:p>
          <a:p>
            <a:r>
              <a:rPr lang="en-US" sz="1800"/>
              <a:t>Are there regional differences in penalties for similar traffic offenses (urban vs rural)?</a:t>
            </a:r>
          </a:p>
          <a:p>
            <a:r>
              <a:rPr lang="en-US" sz="1800"/>
              <a:t>How have government incentives impacted EV adoption, and are there differences across demographic groups?</a:t>
            </a:r>
          </a:p>
        </p:txBody>
      </p:sp>
      <p:pic>
        <p:nvPicPr>
          <p:cNvPr id="5" name="Content Placeholder 4" descr="A group of road signs&#10;&#10;Description automatically generated">
            <a:extLst>
              <a:ext uri="{FF2B5EF4-FFF2-40B4-BE49-F238E27FC236}">
                <a16:creationId xmlns:a16="http://schemas.microsoft.com/office/drawing/2014/main" id="{3F462C25-C51B-FA8A-2CEB-B9CB1D58E184}"/>
              </a:ext>
            </a:extLst>
          </p:cNvPr>
          <p:cNvPicPr>
            <a:picLocks noChangeAspect="1"/>
          </p:cNvPicPr>
          <p:nvPr/>
        </p:nvPicPr>
        <p:blipFill>
          <a:blip r:embed="rId2">
            <a:extLst>
              <a:ext uri="{28A0092B-C50C-407E-A947-70E740481C1C}">
                <a14:useLocalDpi xmlns:a14="http://schemas.microsoft.com/office/drawing/2010/main" val="0"/>
              </a:ext>
            </a:extLst>
          </a:blip>
          <a:srcRect r="3703"/>
          <a:stretch/>
        </p:blipFill>
        <p:spPr>
          <a:xfrm>
            <a:off x="5721536" y="1"/>
            <a:ext cx="6470464" cy="6856412"/>
          </a:xfrm>
          <a:custGeom>
            <a:avLst/>
            <a:gdLst/>
            <a:ahLst/>
            <a:cxnLst/>
            <a:rect l="l" t="t" r="r" b="b"/>
            <a:pathLst>
              <a:path w="6470464" h="6856412">
                <a:moveTo>
                  <a:pt x="0" y="0"/>
                </a:moveTo>
                <a:lnTo>
                  <a:pt x="6470464" y="0"/>
                </a:lnTo>
                <a:lnTo>
                  <a:pt x="6470464" y="6856412"/>
                </a:lnTo>
                <a:lnTo>
                  <a:pt x="753" y="6856412"/>
                </a:lnTo>
                <a:lnTo>
                  <a:pt x="83736" y="6682434"/>
                </a:lnTo>
                <a:cubicBezTo>
                  <a:pt x="534353" y="5654674"/>
                  <a:pt x="777103" y="4561946"/>
                  <a:pt x="777103" y="3428997"/>
                </a:cubicBezTo>
                <a:cubicBezTo>
                  <a:pt x="777103" y="2296047"/>
                  <a:pt x="534353" y="1203318"/>
                  <a:pt x="83736" y="175558"/>
                </a:cubicBezTo>
                <a:close/>
              </a:path>
            </a:pathLst>
          </a:custGeom>
        </p:spPr>
      </p:pic>
    </p:spTree>
    <p:extLst>
      <p:ext uri="{BB962C8B-B14F-4D97-AF65-F5344CB8AC3E}">
        <p14:creationId xmlns:p14="http://schemas.microsoft.com/office/powerpoint/2010/main" val="298391127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0ABA6-22B2-3DF9-71D0-4437401AC40C}"/>
              </a:ext>
            </a:extLst>
          </p:cNvPr>
          <p:cNvSpPr>
            <a:spLocks noGrp="1"/>
          </p:cNvSpPr>
          <p:nvPr>
            <p:ph type="title"/>
          </p:nvPr>
        </p:nvSpPr>
        <p:spPr>
          <a:xfrm>
            <a:off x="1137035" y="609600"/>
            <a:ext cx="3595678" cy="1330839"/>
          </a:xfrm>
        </p:spPr>
        <p:txBody>
          <a:bodyPr>
            <a:normAutofit/>
          </a:bodyPr>
          <a:lstStyle/>
          <a:p>
            <a:r>
              <a:rPr lang="de-DE" sz="4400" dirty="0" err="1"/>
              <a:t>Methodology</a:t>
            </a:r>
            <a:endParaRPr lang="de-DE" dirty="0"/>
          </a:p>
        </p:txBody>
      </p:sp>
      <p:sp>
        <p:nvSpPr>
          <p:cNvPr id="9" name="Content Placeholder 8">
            <a:extLst>
              <a:ext uri="{FF2B5EF4-FFF2-40B4-BE49-F238E27FC236}">
                <a16:creationId xmlns:a16="http://schemas.microsoft.com/office/drawing/2014/main" id="{D66E7736-E8F6-CFD5-5F72-695E85147C18}"/>
              </a:ext>
            </a:extLst>
          </p:cNvPr>
          <p:cNvSpPr>
            <a:spLocks noGrp="1"/>
          </p:cNvSpPr>
          <p:nvPr>
            <p:ph idx="1"/>
          </p:nvPr>
        </p:nvSpPr>
        <p:spPr>
          <a:xfrm>
            <a:off x="1137034" y="2194102"/>
            <a:ext cx="3158741" cy="3908586"/>
          </a:xfrm>
        </p:spPr>
        <p:txBody>
          <a:bodyPr>
            <a:normAutofit/>
          </a:bodyPr>
          <a:lstStyle/>
          <a:p>
            <a:r>
              <a:rPr lang="en-US" sz="2000" dirty="0"/>
              <a:t> Data Source: Federal Motor Transport Authority (KBA)</a:t>
            </a:r>
          </a:p>
          <a:p>
            <a:r>
              <a:rPr lang="en-US" sz="2000" dirty="0"/>
              <a:t>Data segmentation: Demographic (age, gender) and regional factors (urban vs rural).</a:t>
            </a:r>
          </a:p>
          <a:p>
            <a:r>
              <a:rPr lang="en-US" sz="2000" dirty="0"/>
              <a:t>Approach: Cross-sectional and time-series analysis on traffic violations, penalties, and vehicle registrations.</a:t>
            </a:r>
          </a:p>
          <a:p>
            <a:endParaRPr lang="en-US" sz="2000" dirty="0"/>
          </a:p>
        </p:txBody>
      </p:sp>
      <p:pic>
        <p:nvPicPr>
          <p:cNvPr id="5" name="Content Placeholder 4" descr="A magnifying glass on a map&#10;&#10;Description automatically generated">
            <a:extLst>
              <a:ext uri="{FF2B5EF4-FFF2-40B4-BE49-F238E27FC236}">
                <a16:creationId xmlns:a16="http://schemas.microsoft.com/office/drawing/2014/main" id="{E3344096-8EC2-FF9D-B59D-44AB7E6AFEDB}"/>
              </a:ext>
            </a:extLst>
          </p:cNvPr>
          <p:cNvPicPr>
            <a:picLocks noChangeAspect="1"/>
          </p:cNvPicPr>
          <p:nvPr/>
        </p:nvPicPr>
        <p:blipFill>
          <a:blip r:embed="rId2">
            <a:extLst>
              <a:ext uri="{28A0092B-C50C-407E-A947-70E740481C1C}">
                <a14:useLocalDpi xmlns:a14="http://schemas.microsoft.com/office/drawing/2010/main" val="0"/>
              </a:ext>
            </a:extLst>
          </a:blip>
          <a:srcRect r="3" b="5329"/>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Tree>
    <p:extLst>
      <p:ext uri="{BB962C8B-B14F-4D97-AF65-F5344CB8AC3E}">
        <p14:creationId xmlns:p14="http://schemas.microsoft.com/office/powerpoint/2010/main" val="29236616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3C479E-7584-BD7A-5892-2311B5EB8828}"/>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Hypothesis Testing</a:t>
            </a:r>
          </a:p>
        </p:txBody>
      </p:sp>
      <p:sp>
        <p:nvSpPr>
          <p:cNvPr id="15"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database&#10;&#10;Description automatically generated">
            <a:extLst>
              <a:ext uri="{FF2B5EF4-FFF2-40B4-BE49-F238E27FC236}">
                <a16:creationId xmlns:a16="http://schemas.microsoft.com/office/drawing/2014/main" id="{F95D7824-3537-6105-DDF4-8A69972B1EA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0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80948128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Description automatically generated">
            <a:extLst>
              <a:ext uri="{FF2B5EF4-FFF2-40B4-BE49-F238E27FC236}">
                <a16:creationId xmlns:a16="http://schemas.microsoft.com/office/drawing/2014/main" id="{8CF9C8F1-3D2F-2912-9B70-E433F94A8B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1999" cy="6734175"/>
          </a:xfrm>
        </p:spPr>
      </p:pic>
    </p:spTree>
    <p:extLst>
      <p:ext uri="{BB962C8B-B14F-4D97-AF65-F5344CB8AC3E}">
        <p14:creationId xmlns:p14="http://schemas.microsoft.com/office/powerpoint/2010/main" val="295169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7D4F18-5BD4-F02D-DFDE-297CE7410389}"/>
              </a:ext>
            </a:extLst>
          </p:cNvPr>
          <p:cNvSpPr>
            <a:spLocks noGrp="1"/>
          </p:cNvSpPr>
          <p:nvPr>
            <p:ph idx="1"/>
          </p:nvPr>
        </p:nvSpPr>
        <p:spPr>
          <a:xfrm>
            <a:off x="847725" y="1162050"/>
            <a:ext cx="4619621" cy="4986338"/>
          </a:xfrm>
        </p:spPr>
        <p:txBody>
          <a:bodyPr vert="horz" lIns="91440" tIns="45720" rIns="91440" bIns="45720" rtlCol="0">
            <a:normAutofit/>
          </a:bodyPr>
          <a:lstStyle/>
          <a:p>
            <a:pPr marL="0" indent="0">
              <a:buNone/>
            </a:pPr>
            <a:r>
              <a:rPr lang="en-US" sz="1700" b="1" dirty="0"/>
              <a:t>Research Question Addressed</a:t>
            </a:r>
            <a:r>
              <a:rPr lang="en-US" sz="1700" dirty="0"/>
              <a:t>: </a:t>
            </a:r>
          </a:p>
          <a:p>
            <a:pPr marL="0"/>
            <a:r>
              <a:rPr lang="en-US" sz="1700" dirty="0"/>
              <a:t>Do brands with smaller market share have a higher percentage of alternative drive vehicles? </a:t>
            </a:r>
          </a:p>
          <a:p>
            <a:pPr marL="0" indent="0">
              <a:buNone/>
            </a:pPr>
            <a:endParaRPr lang="en-US" sz="1700" dirty="0"/>
          </a:p>
          <a:p>
            <a:pPr marL="0" indent="0">
              <a:buNone/>
            </a:pPr>
            <a:endParaRPr lang="en-US" sz="1700" dirty="0"/>
          </a:p>
          <a:p>
            <a:endParaRPr lang="en-US" sz="1700" dirty="0"/>
          </a:p>
          <a:p>
            <a:pPr marL="0" indent="0">
              <a:buNone/>
            </a:pPr>
            <a:r>
              <a:rPr lang="en-US" sz="1700" b="1" dirty="0"/>
              <a:t>Explanation</a:t>
            </a:r>
            <a:r>
              <a:rPr lang="en-US" sz="1700" dirty="0"/>
              <a:t>: </a:t>
            </a:r>
          </a:p>
          <a:p>
            <a:pPr marL="0"/>
            <a:r>
              <a:rPr lang="en-US" sz="1700" dirty="0"/>
              <a:t>This scatter plot illustrates that smaller brands like Polestar and MG </a:t>
            </a:r>
            <a:r>
              <a:rPr lang="en-US" sz="1700" dirty="0" err="1"/>
              <a:t>Roewe</a:t>
            </a:r>
            <a:r>
              <a:rPr lang="en-US" sz="1700" dirty="0"/>
              <a:t> have a higher percentage of alternative drive vehicles compared to larger brands like Volkswagen. This supports the hypothesis that niche brands target more sustainable markets.</a:t>
            </a:r>
          </a:p>
        </p:txBody>
      </p:sp>
      <p:pic>
        <p:nvPicPr>
          <p:cNvPr id="14" name="Picture 13" descr="Large car car park from above">
            <a:extLst>
              <a:ext uri="{FF2B5EF4-FFF2-40B4-BE49-F238E27FC236}">
                <a16:creationId xmlns:a16="http://schemas.microsoft.com/office/drawing/2014/main" id="{94464F45-2F64-AF36-12F3-A20DA3A1A190}"/>
              </a:ext>
            </a:extLst>
          </p:cNvPr>
          <p:cNvPicPr>
            <a:picLocks noChangeAspect="1"/>
          </p:cNvPicPr>
          <p:nvPr/>
        </p:nvPicPr>
        <p:blipFill>
          <a:blip r:embed="rId2"/>
          <a:srcRect l="5652" r="36529"/>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2190347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different colored squares&#10;&#10;Description automatically generated">
            <a:extLst>
              <a:ext uri="{FF2B5EF4-FFF2-40B4-BE49-F238E27FC236}">
                <a16:creationId xmlns:a16="http://schemas.microsoft.com/office/drawing/2014/main" id="{DBE4E1A5-C284-B4DC-DD2C-335BEB9546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4083" y="643466"/>
            <a:ext cx="6963834" cy="5571067"/>
          </a:xfrm>
          <a:prstGeom prst="rect">
            <a:avLst/>
          </a:prstGeom>
        </p:spPr>
      </p:pic>
    </p:spTree>
    <p:extLst>
      <p:ext uri="{BB962C8B-B14F-4D97-AF65-F5344CB8AC3E}">
        <p14:creationId xmlns:p14="http://schemas.microsoft.com/office/powerpoint/2010/main" val="104376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394B3B-7644-D7AF-F390-2F3BC431D245}"/>
              </a:ext>
            </a:extLst>
          </p:cNvPr>
          <p:cNvSpPr>
            <a:spLocks noGrp="1"/>
          </p:cNvSpPr>
          <p:nvPr>
            <p:ph idx="1"/>
          </p:nvPr>
        </p:nvSpPr>
        <p:spPr>
          <a:xfrm>
            <a:off x="598665" y="1564483"/>
            <a:ext cx="6002110" cy="3729034"/>
          </a:xfrm>
        </p:spPr>
        <p:txBody>
          <a:bodyPr>
            <a:normAutofit lnSpcReduction="10000"/>
          </a:bodyPr>
          <a:lstStyle/>
          <a:p>
            <a:pPr marL="0" indent="0">
              <a:buNone/>
            </a:pPr>
            <a:r>
              <a:rPr lang="en-US" sz="2000" b="1" dirty="0"/>
              <a:t>Research Question Addressed</a:t>
            </a:r>
            <a:r>
              <a:rPr lang="en-US" sz="2000" dirty="0"/>
              <a:t>: </a:t>
            </a:r>
          </a:p>
          <a:p>
            <a:r>
              <a:rPr lang="en-US" sz="2000" dirty="0"/>
              <a:t>Are EV adoption rates higher in urban regions compared to rural areas? </a:t>
            </a:r>
          </a:p>
          <a:p>
            <a:endParaRPr lang="en-US" sz="2000" dirty="0"/>
          </a:p>
          <a:p>
            <a:endParaRPr lang="en-US" sz="2000" dirty="0"/>
          </a:p>
          <a:p>
            <a:pPr marL="0" indent="0">
              <a:buNone/>
            </a:pPr>
            <a:r>
              <a:rPr lang="en-US" sz="2000" b="1" dirty="0"/>
              <a:t>Explanation</a:t>
            </a:r>
            <a:r>
              <a:rPr lang="en-US" sz="2000" dirty="0"/>
              <a:t>: </a:t>
            </a:r>
          </a:p>
          <a:p>
            <a:r>
              <a:rPr lang="en-US" sz="2000" dirty="0"/>
              <a:t>This bar plot shows hypothetical data comparing urban and rural regions, where urban areas have significantly higher EV adoption rates. This supports the hypothesis that urban regions adopt EVs more readily due to better infrastructure and environmental incentives.</a:t>
            </a:r>
            <a:endParaRPr lang="de-DE" sz="2000" dirty="0"/>
          </a:p>
        </p:txBody>
      </p:sp>
      <p:pic>
        <p:nvPicPr>
          <p:cNvPr id="5" name="Picture 4" descr="Magnifying glass showing decling performance">
            <a:extLst>
              <a:ext uri="{FF2B5EF4-FFF2-40B4-BE49-F238E27FC236}">
                <a16:creationId xmlns:a16="http://schemas.microsoft.com/office/drawing/2014/main" id="{B5597A44-A46C-C682-99BD-2BF4A67C8589}"/>
              </a:ext>
            </a:extLst>
          </p:cNvPr>
          <p:cNvPicPr>
            <a:picLocks noChangeAspect="1"/>
          </p:cNvPicPr>
          <p:nvPr/>
        </p:nvPicPr>
        <p:blipFill>
          <a:blip r:embed="rId2"/>
          <a:srcRect l="9234" r="42171" b="-1"/>
          <a:stretch/>
        </p:blipFill>
        <p:spPr>
          <a:xfrm>
            <a:off x="7199440" y="10"/>
            <a:ext cx="4992560" cy="6857990"/>
          </a:xfrm>
          <a:prstGeom prst="rect">
            <a:avLst/>
          </a:prstGeom>
          <a:effectLst/>
        </p:spPr>
      </p:pic>
    </p:spTree>
    <p:extLst>
      <p:ext uri="{BB962C8B-B14F-4D97-AF65-F5344CB8AC3E}">
        <p14:creationId xmlns:p14="http://schemas.microsoft.com/office/powerpoint/2010/main" val="2804098369"/>
      </p:ext>
    </p:extLst>
  </p:cSld>
  <p:clrMapOvr>
    <a:masterClrMapping/>
  </p:clrMapOvr>
  <mc:AlternateContent xmlns:mc="http://schemas.openxmlformats.org/markup-compatibility/2006" xmlns:p14="http://schemas.microsoft.com/office/powerpoint/2010/main">
    <mc:Choice Requires="p14">
      <p:transition spd="slow" p14:dur="2000">
        <p14:prism dir="u"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graph with blue x and white lines&#10;&#10;Description automatically generated">
            <a:extLst>
              <a:ext uri="{FF2B5EF4-FFF2-40B4-BE49-F238E27FC236}">
                <a16:creationId xmlns:a16="http://schemas.microsoft.com/office/drawing/2014/main" id="{86E17A38-B30D-2F49-5070-4000DEBCB08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6676"/>
            <a:ext cx="12192000" cy="6791324"/>
          </a:xfrm>
          <a:prstGeom prst="rect">
            <a:avLst/>
          </a:prstGeom>
        </p:spPr>
      </p:pic>
    </p:spTree>
    <p:extLst>
      <p:ext uri="{BB962C8B-B14F-4D97-AF65-F5344CB8AC3E}">
        <p14:creationId xmlns:p14="http://schemas.microsoft.com/office/powerpoint/2010/main" val="2108723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97AD14-5C13-9E39-AF1D-22656F7F4567}"/>
              </a:ext>
            </a:extLst>
          </p:cNvPr>
          <p:cNvSpPr>
            <a:spLocks noGrp="1"/>
          </p:cNvSpPr>
          <p:nvPr>
            <p:ph idx="1"/>
          </p:nvPr>
        </p:nvSpPr>
        <p:spPr>
          <a:xfrm>
            <a:off x="648930" y="1228726"/>
            <a:ext cx="5181508" cy="3905250"/>
          </a:xfrm>
        </p:spPr>
        <p:txBody>
          <a:bodyPr>
            <a:noAutofit/>
          </a:bodyPr>
          <a:lstStyle/>
          <a:p>
            <a:pPr marL="0" indent="0">
              <a:buNone/>
            </a:pPr>
            <a:r>
              <a:rPr lang="en-US" sz="2000" b="1" dirty="0"/>
              <a:t>Research Question Addressed</a:t>
            </a:r>
            <a:r>
              <a:rPr lang="en-US" sz="2000" dirty="0"/>
              <a:t>: </a:t>
            </a:r>
          </a:p>
          <a:p>
            <a:r>
              <a:rPr lang="en-US" sz="2000" dirty="0"/>
              <a:t>How have government incentives, like the </a:t>
            </a:r>
            <a:r>
              <a:rPr lang="en-US" sz="2000" dirty="0" err="1"/>
              <a:t>Umweltbonus</a:t>
            </a:r>
            <a:r>
              <a:rPr lang="en-US" sz="2000" dirty="0"/>
              <a:t>, impacted EV adoption across different brands?</a:t>
            </a:r>
          </a:p>
          <a:p>
            <a:endParaRPr lang="en-US" sz="2000" dirty="0"/>
          </a:p>
          <a:p>
            <a:endParaRPr lang="en-US" sz="2000" dirty="0"/>
          </a:p>
          <a:p>
            <a:pPr marL="0" indent="0">
              <a:buNone/>
            </a:pPr>
            <a:r>
              <a:rPr lang="en-US" sz="2000" b="1" dirty="0"/>
              <a:t>Explanation</a:t>
            </a:r>
            <a:r>
              <a:rPr lang="en-US" sz="2000" dirty="0"/>
              <a:t>: </a:t>
            </a:r>
          </a:p>
          <a:p>
            <a:r>
              <a:rPr lang="en-US" sz="2000" dirty="0"/>
              <a:t>This scatter plot shows a positive relationship between government incentives and the percentage of alternative drive vehicles, confirming the hypothesis that incentives have boosted EV adoption, particularly for brands like Audi, BMW, and Mercedes.</a:t>
            </a:r>
            <a:endParaRPr lang="de-DE" sz="2000" dirty="0"/>
          </a:p>
        </p:txBody>
      </p:sp>
      <p:pic>
        <p:nvPicPr>
          <p:cNvPr id="5" name="Picture 4" descr="Cars parked in a line">
            <a:extLst>
              <a:ext uri="{FF2B5EF4-FFF2-40B4-BE49-F238E27FC236}">
                <a16:creationId xmlns:a16="http://schemas.microsoft.com/office/drawing/2014/main" id="{A4F1B817-FAF5-2244-6166-37D25FD4AAA7}"/>
              </a:ext>
            </a:extLst>
          </p:cNvPr>
          <p:cNvPicPr>
            <a:picLocks noChangeAspect="1"/>
          </p:cNvPicPr>
          <p:nvPr/>
        </p:nvPicPr>
        <p:blipFill>
          <a:blip r:embed="rId2"/>
          <a:srcRect l="25471" r="8881"/>
          <a:stretch/>
        </p:blipFill>
        <p:spPr>
          <a:xfrm>
            <a:off x="6189155" y="10"/>
            <a:ext cx="6002844" cy="6857990"/>
          </a:xfrm>
          <a:prstGeom prst="rect">
            <a:avLst/>
          </a:prstGeom>
          <a:effectLst/>
        </p:spPr>
      </p:pic>
    </p:spTree>
    <p:extLst>
      <p:ext uri="{BB962C8B-B14F-4D97-AF65-F5344CB8AC3E}">
        <p14:creationId xmlns:p14="http://schemas.microsoft.com/office/powerpoint/2010/main" val="170302810"/>
      </p:ext>
    </p:extLst>
  </p:cSld>
  <p:clrMapOvr>
    <a:masterClrMapping/>
  </p:clrMapOvr>
  <mc:AlternateContent xmlns:mc="http://schemas.openxmlformats.org/markup-compatibility/2006" xmlns:p14="http://schemas.microsoft.com/office/powerpoint/2010/main">
    <mc:Choice Requires="p14">
      <p:transition spd="slow" p14:dur="1600">
        <p14:prism dir="r"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4A4426-BB74-1C89-E1EA-B26CE28132A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Further Analysis</a:t>
            </a:r>
          </a:p>
        </p:txBody>
      </p:sp>
      <p:sp>
        <p:nvSpPr>
          <p:cNvPr id="2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oup of people and graphs&#10;&#10;Description automatically generated">
            <a:extLst>
              <a:ext uri="{FF2B5EF4-FFF2-40B4-BE49-F238E27FC236}">
                <a16:creationId xmlns:a16="http://schemas.microsoft.com/office/drawing/2014/main" id="{6431FCFA-3792-980B-0B7A-03857AA31BEC}"/>
              </a:ext>
            </a:extLst>
          </p:cNvPr>
          <p:cNvPicPr>
            <a:picLocks noChangeAspect="1"/>
          </p:cNvPicPr>
          <p:nvPr/>
        </p:nvPicPr>
        <p:blipFill>
          <a:blip r:embed="rId2">
            <a:extLst>
              <a:ext uri="{28A0092B-C50C-407E-A947-70E740481C1C}">
                <a14:useLocalDpi xmlns:a14="http://schemas.microsoft.com/office/drawing/2010/main" val="0"/>
              </a:ext>
            </a:extLst>
          </a:blip>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727610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number of brands&#10;&#10;Description automatically generated">
            <a:extLst>
              <a:ext uri="{FF2B5EF4-FFF2-40B4-BE49-F238E27FC236}">
                <a16:creationId xmlns:a16="http://schemas.microsoft.com/office/drawing/2014/main" id="{06C66FA5-66AC-F401-ED68-22D00F2DC6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2000" cy="6858000"/>
          </a:xfrm>
        </p:spPr>
      </p:pic>
    </p:spTree>
    <p:extLst>
      <p:ext uri="{BB962C8B-B14F-4D97-AF65-F5344CB8AC3E}">
        <p14:creationId xmlns:p14="http://schemas.microsoft.com/office/powerpoint/2010/main" val="602983213"/>
      </p:ext>
    </p:extLst>
  </p:cSld>
  <p:clrMapOvr>
    <a:masterClrMapping/>
  </p:clrMapOvr>
  <p:transition spd="slow">
    <p:comb/>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Cars in the car park">
            <a:extLst>
              <a:ext uri="{FF2B5EF4-FFF2-40B4-BE49-F238E27FC236}">
                <a16:creationId xmlns:a16="http://schemas.microsoft.com/office/drawing/2014/main" id="{A881F9F9-B826-292D-120C-7AC664BD73E6}"/>
              </a:ext>
            </a:extLst>
          </p:cNvPr>
          <p:cNvPicPr>
            <a:picLocks noChangeAspect="1"/>
          </p:cNvPicPr>
          <p:nvPr/>
        </p:nvPicPr>
        <p:blipFill>
          <a:blip r:embed="rId2"/>
          <a:srcRect l="34964" r="5725"/>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D37CDCC-33E7-60F1-8909-C663CA715D43}"/>
              </a:ext>
            </a:extLst>
          </p:cNvPr>
          <p:cNvSpPr>
            <a:spLocks noGrp="1"/>
          </p:cNvSpPr>
          <p:nvPr>
            <p:ph idx="1"/>
          </p:nvPr>
        </p:nvSpPr>
        <p:spPr>
          <a:xfrm>
            <a:off x="6513788" y="2333297"/>
            <a:ext cx="4840010" cy="3843666"/>
          </a:xfrm>
        </p:spPr>
        <p:txBody>
          <a:bodyPr>
            <a:normAutofit/>
          </a:bodyPr>
          <a:lstStyle/>
          <a:p>
            <a:pPr marL="0" indent="0">
              <a:buNone/>
            </a:pPr>
            <a:r>
              <a:rPr lang="en-US" sz="2000" b="1" dirty="0"/>
              <a:t>Research Question Addressed</a:t>
            </a:r>
            <a:r>
              <a:rPr lang="en-US" sz="2000" dirty="0"/>
              <a:t>: </a:t>
            </a:r>
          </a:p>
          <a:p>
            <a:r>
              <a:rPr lang="en-US" sz="2000" dirty="0"/>
              <a:t>What are the leading brands in terms of overall vehicle registrations?</a:t>
            </a:r>
          </a:p>
          <a:p>
            <a:endParaRPr lang="en-US" sz="2000" dirty="0"/>
          </a:p>
          <a:p>
            <a:pPr marL="0" indent="0">
              <a:buNone/>
            </a:pPr>
            <a:r>
              <a:rPr lang="en-US" sz="2000" b="1" dirty="0"/>
              <a:t>Explanation</a:t>
            </a:r>
            <a:r>
              <a:rPr lang="en-US" sz="2000" dirty="0"/>
              <a:t>: </a:t>
            </a:r>
          </a:p>
          <a:p>
            <a:r>
              <a:rPr lang="en-US" sz="2000" dirty="0"/>
              <a:t>This bar plot ranks the top 10 brands by new registrations in Q1 2022, showcasing the dominance of brands like Volkswagen and Audi in total vehicle sales.</a:t>
            </a:r>
            <a:endParaRPr lang="de-DE" sz="2000" dirty="0"/>
          </a:p>
        </p:txBody>
      </p:sp>
    </p:spTree>
    <p:extLst>
      <p:ext uri="{BB962C8B-B14F-4D97-AF65-F5344CB8AC3E}">
        <p14:creationId xmlns:p14="http://schemas.microsoft.com/office/powerpoint/2010/main" val="772643549"/>
      </p:ext>
    </p:extLst>
  </p:cSld>
  <p:clrMapOvr>
    <a:masterClrMapping/>
  </p:clrMapOvr>
  <mc:AlternateContent xmlns:mc="http://schemas.openxmlformats.org/markup-compatibility/2006" xmlns:p14="http://schemas.microsoft.com/office/powerpoint/2010/main">
    <mc:Choice Requires="p14">
      <p:transition spd="slow" p14:dur="1600">
        <p14:prism dir="d"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purple bars&#10;&#10;Description automatically generated">
            <a:extLst>
              <a:ext uri="{FF2B5EF4-FFF2-40B4-BE49-F238E27FC236}">
                <a16:creationId xmlns:a16="http://schemas.microsoft.com/office/drawing/2014/main" id="{0B556993-A113-C8BE-8B18-382919008F3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2000" cy="6705600"/>
          </a:xfrm>
        </p:spPr>
      </p:pic>
    </p:spTree>
    <p:extLst>
      <p:ext uri="{BB962C8B-B14F-4D97-AF65-F5344CB8AC3E}">
        <p14:creationId xmlns:p14="http://schemas.microsoft.com/office/powerpoint/2010/main" val="4290943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high angle view of a traffic jam&#10;&#10;Description automatically generated">
            <a:extLst>
              <a:ext uri="{FF2B5EF4-FFF2-40B4-BE49-F238E27FC236}">
                <a16:creationId xmlns:a16="http://schemas.microsoft.com/office/drawing/2014/main" id="{1A173315-4DE7-3624-1725-9487A506404B}"/>
              </a:ext>
            </a:extLst>
          </p:cNvPr>
          <p:cNvPicPr>
            <a:picLocks noChangeAspect="1"/>
          </p:cNvPicPr>
          <p:nvPr/>
        </p:nvPicPr>
        <p:blipFill>
          <a:blip r:embed="rId2">
            <a:extLst>
              <a:ext uri="{28A0092B-C50C-407E-A947-70E740481C1C}">
                <a14:useLocalDpi xmlns:a14="http://schemas.microsoft.com/office/drawing/2010/main" val="0"/>
              </a:ext>
            </a:extLst>
          </a:blip>
          <a:srcRect t="991" r="-2" b="33923"/>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D96C2DC4-2AC4-A9CB-095B-4C65BC05B5D4}"/>
              </a:ext>
            </a:extLst>
          </p:cNvPr>
          <p:cNvSpPr>
            <a:spLocks noGrp="1"/>
          </p:cNvSpPr>
          <p:nvPr>
            <p:ph idx="1"/>
          </p:nvPr>
        </p:nvSpPr>
        <p:spPr>
          <a:xfrm>
            <a:off x="7320465" y="1228725"/>
            <a:ext cx="4140013" cy="4873963"/>
          </a:xfrm>
        </p:spPr>
        <p:txBody>
          <a:bodyPr>
            <a:normAutofit/>
          </a:bodyPr>
          <a:lstStyle/>
          <a:p>
            <a:pPr marL="0" indent="0">
              <a:buNone/>
            </a:pPr>
            <a:r>
              <a:rPr lang="en-US" sz="2000" b="1" dirty="0"/>
              <a:t>Research Question Addressed</a:t>
            </a:r>
            <a:r>
              <a:rPr lang="en-US" sz="2000" dirty="0"/>
              <a:t>: </a:t>
            </a:r>
          </a:p>
          <a:p>
            <a:r>
              <a:rPr lang="en-US" sz="2000" dirty="0"/>
              <a:t>How are alternative drive vehicles distributed across all brands?</a:t>
            </a:r>
          </a:p>
          <a:p>
            <a:endParaRPr lang="en-US" sz="2000" dirty="0"/>
          </a:p>
          <a:p>
            <a:endParaRPr lang="en-US" sz="2000" dirty="0"/>
          </a:p>
          <a:p>
            <a:pPr marL="0" indent="0">
              <a:buNone/>
            </a:pPr>
            <a:r>
              <a:rPr lang="en-US" sz="2000" b="1" dirty="0"/>
              <a:t>Explanation</a:t>
            </a:r>
            <a:r>
              <a:rPr lang="en-US" sz="2000" dirty="0"/>
              <a:t>: </a:t>
            </a:r>
          </a:p>
          <a:p>
            <a:r>
              <a:rPr lang="en-US" sz="2000" dirty="0"/>
              <a:t>This histogram shows that most brands fall within a lower percentage of alternative drive vehicles, while a few brands dominate the upper range of adoption. It provides insight into which brands are leading the transition to sustainable vehicles.</a:t>
            </a:r>
            <a:endParaRPr lang="de-DE" sz="2000" dirty="0"/>
          </a:p>
        </p:txBody>
      </p:sp>
    </p:spTree>
    <p:extLst>
      <p:ext uri="{BB962C8B-B14F-4D97-AF65-F5344CB8AC3E}">
        <p14:creationId xmlns:p14="http://schemas.microsoft.com/office/powerpoint/2010/main" val="774431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26D193-71C6-52D3-D26A-40A323A7FF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446529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17F418-BB3C-B843-34B3-BE1944ACAF16}"/>
              </a:ext>
            </a:extLst>
          </p:cNvPr>
          <p:cNvSpPr>
            <a:spLocks noGrp="1"/>
          </p:cNvSpPr>
          <p:nvPr>
            <p:ph idx="1"/>
          </p:nvPr>
        </p:nvSpPr>
        <p:spPr>
          <a:xfrm>
            <a:off x="804797" y="1507167"/>
            <a:ext cx="4619621" cy="4426908"/>
          </a:xfrm>
        </p:spPr>
        <p:txBody>
          <a:bodyPr>
            <a:normAutofit/>
          </a:bodyPr>
          <a:lstStyle/>
          <a:p>
            <a:pPr marL="0" indent="0">
              <a:buNone/>
            </a:pPr>
            <a:r>
              <a:rPr lang="en-US" sz="1900" b="1" dirty="0"/>
              <a:t>Research Question Addressed</a:t>
            </a:r>
            <a:r>
              <a:rPr lang="en-US" sz="1900" dirty="0"/>
              <a:t>: </a:t>
            </a:r>
          </a:p>
          <a:p>
            <a:r>
              <a:rPr lang="en-US" sz="1900" dirty="0"/>
              <a:t>What is the relationship between total registrations and alternative drive registrations?  </a:t>
            </a:r>
          </a:p>
          <a:p>
            <a:endParaRPr lang="en-US" sz="1900" dirty="0"/>
          </a:p>
          <a:p>
            <a:endParaRPr lang="en-US" sz="1900" dirty="0"/>
          </a:p>
          <a:p>
            <a:pPr marL="0" indent="0">
              <a:buNone/>
            </a:pPr>
            <a:r>
              <a:rPr lang="en-US" sz="1900" b="1" dirty="0"/>
              <a:t>Explanation</a:t>
            </a:r>
            <a:r>
              <a:rPr lang="en-US" sz="1900" dirty="0"/>
              <a:t>: </a:t>
            </a:r>
          </a:p>
          <a:p>
            <a:r>
              <a:rPr lang="en-US" sz="1900" dirty="0"/>
              <a:t>The correlation heatmap shows that there is a strong correlation between total new registrations and alternative drive registrations, indicating that as a brand's market share grows, so does the adoption of alternative drives.</a:t>
            </a:r>
            <a:endParaRPr lang="de-DE" sz="1900" dirty="0"/>
          </a:p>
        </p:txBody>
      </p:sp>
      <p:pic>
        <p:nvPicPr>
          <p:cNvPr id="5" name="Picture 4" descr="Angled shot of pen on a graph">
            <a:extLst>
              <a:ext uri="{FF2B5EF4-FFF2-40B4-BE49-F238E27FC236}">
                <a16:creationId xmlns:a16="http://schemas.microsoft.com/office/drawing/2014/main" id="{A4864FE1-FFBE-DC37-24E6-13FF253772EE}"/>
              </a:ext>
            </a:extLst>
          </p:cNvPr>
          <p:cNvPicPr>
            <a:picLocks noChangeAspect="1"/>
          </p:cNvPicPr>
          <p:nvPr/>
        </p:nvPicPr>
        <p:blipFill>
          <a:blip r:embed="rId2"/>
          <a:srcRect l="2249" r="39714"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251776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D2323-9C3C-75F6-E0D0-9275BE26D6A7}"/>
              </a:ext>
            </a:extLst>
          </p:cNvPr>
          <p:cNvSpPr>
            <a:spLocks noGrp="1"/>
          </p:cNvSpPr>
          <p:nvPr>
            <p:ph type="title"/>
          </p:nvPr>
        </p:nvSpPr>
        <p:spPr/>
        <p:txBody>
          <a:bodyPr/>
          <a:lstStyle/>
          <a:p>
            <a:endParaRPr lang="de-DE"/>
          </a:p>
        </p:txBody>
      </p:sp>
      <p:pic>
        <p:nvPicPr>
          <p:cNvPr id="5" name="Content Placeholder 4" descr="A graph showing the growth of a baby">
            <a:extLst>
              <a:ext uri="{FF2B5EF4-FFF2-40B4-BE49-F238E27FC236}">
                <a16:creationId xmlns:a16="http://schemas.microsoft.com/office/drawing/2014/main" id="{EB6D2593-DEF7-74D7-5FA0-EE1DA8CCD1B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115672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n abstract financial digital analysis">
            <a:extLst>
              <a:ext uri="{FF2B5EF4-FFF2-40B4-BE49-F238E27FC236}">
                <a16:creationId xmlns:a16="http://schemas.microsoft.com/office/drawing/2014/main" id="{B491A444-1FF7-7D34-18B4-D0E8FFC1D83F}"/>
              </a:ext>
            </a:extLst>
          </p:cNvPr>
          <p:cNvPicPr>
            <a:picLocks noChangeAspect="1"/>
          </p:cNvPicPr>
          <p:nvPr/>
        </p:nvPicPr>
        <p:blipFill>
          <a:blip r:embed="rId2"/>
          <a:srcRect l="21746"/>
          <a:stretch/>
        </p:blipFill>
        <p:spPr>
          <a:xfrm>
            <a:off x="2522356" y="10"/>
            <a:ext cx="9669642" cy="685799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27599C2-7676-7065-0209-3EDC2443BBC8}"/>
              </a:ext>
            </a:extLst>
          </p:cNvPr>
          <p:cNvSpPr>
            <a:spLocks noGrp="1"/>
          </p:cNvSpPr>
          <p:nvPr>
            <p:ph idx="1"/>
          </p:nvPr>
        </p:nvSpPr>
        <p:spPr>
          <a:xfrm>
            <a:off x="781050" y="783431"/>
            <a:ext cx="3822189" cy="5291138"/>
          </a:xfrm>
        </p:spPr>
        <p:txBody>
          <a:bodyPr>
            <a:normAutofit/>
          </a:bodyPr>
          <a:lstStyle/>
          <a:p>
            <a:pPr marL="0" indent="0">
              <a:buNone/>
            </a:pPr>
            <a:r>
              <a:rPr lang="en-US" sz="1900" b="1" dirty="0"/>
              <a:t>Research Question Addressed</a:t>
            </a:r>
            <a:r>
              <a:rPr lang="en-US" sz="1900" dirty="0"/>
              <a:t>: </a:t>
            </a:r>
          </a:p>
          <a:p>
            <a:r>
              <a:rPr lang="en-US" sz="1900" dirty="0"/>
              <a:t>How have selected brands progressed in EV adoption over time (hypothetical)? </a:t>
            </a:r>
          </a:p>
          <a:p>
            <a:endParaRPr lang="en-US" sz="1900" dirty="0"/>
          </a:p>
          <a:p>
            <a:endParaRPr lang="en-US" sz="1900" dirty="0"/>
          </a:p>
          <a:p>
            <a:pPr marL="0" indent="0">
              <a:buNone/>
            </a:pPr>
            <a:r>
              <a:rPr lang="en-US" sz="1900" b="1" dirty="0"/>
              <a:t>Explanation</a:t>
            </a:r>
            <a:r>
              <a:rPr lang="en-US" sz="1900" dirty="0"/>
              <a:t>: </a:t>
            </a:r>
          </a:p>
          <a:p>
            <a:r>
              <a:rPr lang="en-US" sz="1900" dirty="0"/>
              <a:t>This line plot tracks the hypothetical EV adoption trends for brands like Audi, BMW, and Mercedes over a year, illustrating how their EV registration numbers have grown steadily.</a:t>
            </a:r>
            <a:endParaRPr lang="de-DE" sz="1900" dirty="0"/>
          </a:p>
        </p:txBody>
      </p:sp>
    </p:spTree>
    <p:extLst>
      <p:ext uri="{BB962C8B-B14F-4D97-AF65-F5344CB8AC3E}">
        <p14:creationId xmlns:p14="http://schemas.microsoft.com/office/powerpoint/2010/main" val="27216985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E43F7F-2AE1-FAEA-996A-C965316878F3}"/>
              </a:ext>
            </a:extLst>
          </p:cNvPr>
          <p:cNvSpPr>
            <a:spLocks noGrp="1"/>
          </p:cNvSpPr>
          <p:nvPr>
            <p:ph type="title"/>
          </p:nvPr>
        </p:nvSpPr>
        <p:spPr>
          <a:xfrm>
            <a:off x="838201" y="365125"/>
            <a:ext cx="5251316" cy="1807305"/>
          </a:xfrm>
        </p:spPr>
        <p:txBody>
          <a:bodyPr>
            <a:normAutofit/>
          </a:bodyPr>
          <a:lstStyle/>
          <a:p>
            <a:r>
              <a:rPr lang="de-DE" dirty="0" err="1"/>
              <a:t>Conclusion</a:t>
            </a:r>
            <a:endParaRPr lang="de-DE" dirty="0"/>
          </a:p>
        </p:txBody>
      </p:sp>
      <p:sp>
        <p:nvSpPr>
          <p:cNvPr id="9" name="Content Placeholder 8">
            <a:extLst>
              <a:ext uri="{FF2B5EF4-FFF2-40B4-BE49-F238E27FC236}">
                <a16:creationId xmlns:a16="http://schemas.microsoft.com/office/drawing/2014/main" id="{1514E6D5-1E69-B7E1-7C3A-0CAB27C07AB5}"/>
              </a:ext>
            </a:extLst>
          </p:cNvPr>
          <p:cNvSpPr>
            <a:spLocks noGrp="1"/>
          </p:cNvSpPr>
          <p:nvPr>
            <p:ph idx="1"/>
          </p:nvPr>
        </p:nvSpPr>
        <p:spPr>
          <a:xfrm>
            <a:off x="838200" y="1647825"/>
            <a:ext cx="4619621" cy="4529138"/>
          </a:xfrm>
        </p:spPr>
        <p:txBody>
          <a:bodyPr>
            <a:normAutofit/>
          </a:bodyPr>
          <a:lstStyle/>
          <a:p>
            <a:r>
              <a:rPr lang="en-US" sz="2000" b="1" dirty="0"/>
              <a:t>Summary</a:t>
            </a:r>
            <a:r>
              <a:rPr lang="en-US" sz="2000" dirty="0"/>
              <a:t>: The analysis confirms that demographic and regional factors play a significant role in traffic violations and EV adoption. Premium brands, government incentives, and urban areas are key drivers in the shift toward sustainable transportation.</a:t>
            </a:r>
          </a:p>
          <a:p>
            <a:endParaRPr lang="en-US" sz="2000" dirty="0"/>
          </a:p>
          <a:p>
            <a:r>
              <a:rPr lang="en-US" sz="2000" b="1" dirty="0"/>
              <a:t>Next Steps</a:t>
            </a:r>
            <a:r>
              <a:rPr lang="en-US" sz="2000" dirty="0"/>
              <a:t>: Further analysis could explore more granular regional data and additional demographic factors (e.g., income) to better understand the impact on EV adoption.</a:t>
            </a:r>
          </a:p>
        </p:txBody>
      </p:sp>
      <p:pic>
        <p:nvPicPr>
          <p:cNvPr id="5" name="Content Placeholder 4" descr="A traffic on a highway&#10;&#10;Description automatically generated">
            <a:extLst>
              <a:ext uri="{FF2B5EF4-FFF2-40B4-BE49-F238E27FC236}">
                <a16:creationId xmlns:a16="http://schemas.microsoft.com/office/drawing/2014/main" id="{2EE90DB5-928B-5D04-DAFF-6CB71B3A165E}"/>
              </a:ext>
            </a:extLst>
          </p:cNvPr>
          <p:cNvPicPr>
            <a:picLocks noChangeAspect="1"/>
          </p:cNvPicPr>
          <p:nvPr/>
        </p:nvPicPr>
        <p:blipFill>
          <a:blip r:embed="rId2">
            <a:extLst>
              <a:ext uri="{28A0092B-C50C-407E-A947-70E740481C1C}">
                <a14:useLocalDpi xmlns:a14="http://schemas.microsoft.com/office/drawing/2010/main" val="0"/>
              </a:ext>
            </a:extLst>
          </a:blip>
          <a:srcRect t="1374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1831674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1445</Words>
  <Application>Microsoft Office PowerPoint</Application>
  <PresentationFormat>Widescreen</PresentationFormat>
  <Paragraphs>113</Paragraphs>
  <Slides>25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Office Theme</vt:lpstr>
      <vt:lpstr>Demographic and Regional Influences on Traffic Violations and Vehicle Registration in Germany</vt:lpstr>
      <vt:lpstr>Introduction</vt:lpstr>
      <vt:lpstr> Data Preparation</vt:lpstr>
      <vt:lpstr>Data Acquisition</vt:lpstr>
      <vt:lpstr>Data Cleaning</vt:lpstr>
      <vt:lpstr>Summary</vt:lpstr>
      <vt:lpstr>Research Questions</vt:lpstr>
      <vt:lpstr>Methodology</vt:lpstr>
      <vt:lpstr>Hypothesis Testing</vt:lpstr>
      <vt:lpstr>PowerPoint Presentation</vt:lpstr>
      <vt:lpstr>PowerPoint Presentation</vt:lpstr>
      <vt:lpstr>PowerPoint Presentation</vt:lpstr>
      <vt:lpstr>PowerPoint Presentation</vt:lpstr>
      <vt:lpstr>PowerPoint Presentation</vt:lpstr>
      <vt:lpstr>PowerPoint Presentation</vt:lpstr>
      <vt:lpstr>Further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yigitcan tekin</dc:creator>
  <cp:lastModifiedBy>yigitcan tekin</cp:lastModifiedBy>
  <cp:revision>4</cp:revision>
  <dcterms:created xsi:type="dcterms:W3CDTF">2024-09-23T11:06:29Z</dcterms:created>
  <dcterms:modified xsi:type="dcterms:W3CDTF">2024-09-23T19:30:06Z</dcterms:modified>
</cp:coreProperties>
</file>